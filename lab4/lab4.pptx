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85" r:id="rId3"/>
    <p:sldId id="291" r:id="rId4"/>
    <p:sldId id="284" r:id="rId5"/>
    <p:sldId id="292" r:id="rId6"/>
    <p:sldId id="299" r:id="rId7"/>
    <p:sldId id="294" r:id="rId8"/>
    <p:sldId id="298" r:id="rId9"/>
    <p:sldId id="296" r:id="rId10"/>
    <p:sldId id="297" r:id="rId11"/>
    <p:sldId id="300" r:id="rId12"/>
    <p:sldId id="301" r:id="rId13"/>
    <p:sldId id="302" r:id="rId14"/>
    <p:sldId id="303" r:id="rId15"/>
    <p:sldId id="304" r:id="rId16"/>
    <p:sldId id="27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50" y="612"/>
      </p:cViewPr>
      <p:guideLst>
        <p:guide orient="horz" pos="346"/>
        <p:guide orient="horz" pos="3974"/>
        <p:guide pos="438"/>
        <p:guide pos="72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FABF-92EB-4A28-9D96-EEEDC3A31D4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C420-320D-43F3-8A1E-7EA6D07B5A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08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CA74-5891-0962-7F34-2D269883B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64628B-ACFC-48BD-994A-A45DD3715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AB6A32-3498-D97F-C566-BFD3B9D0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EE1F-2934-495D-856C-8D902092E890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6321E8-D9B6-367F-E84E-51DDB4F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9484B-4F4B-27E6-B99D-C697E130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2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D697F-B881-D447-A8A1-3653B7B0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53F89-90BF-2629-502D-5931D406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EA5B8-4726-9188-6115-B89106A1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DE2A-647D-4500-9D2E-502AC02C4614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00C1B-CF92-0371-90DB-79F8D564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90595D-A75F-CAB5-AE90-E3E07EB4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38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A941C-ACAE-B768-7847-E6775439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B2D38-00F6-3DFA-E503-F0C09CEA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FF993-96BC-9FC1-91ED-92777C56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4451-672F-45F1-88E4-8B4F5094B741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F5120-F671-1C1E-3C47-E98D2E58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0AE5C-F751-1159-5464-822147EB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50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89D2C-3651-CAFC-EF50-E83DF2ED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47EC4-6DE9-B843-CAF2-ECE6808F6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7E96C9-AD9C-F0F3-2E8C-448EA93C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1F51A0-F82C-0F42-DA6A-C48D9844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6CC5-59D3-433C-92EF-64C02CE878DA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83A810-3FD3-3810-80CA-B4428307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F73FCE-213E-6581-2041-1B43E3B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7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E52D6-1E2A-DE3E-2D07-2E3639A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0DD91-D018-EAF1-500D-F8F9F4BF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A85A0B-BEBB-9177-5351-7804EF964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C7659-04A4-F62B-7725-6100AA60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67E88D-9109-7F25-8154-BFA444625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E328C5-8E0E-C1ED-C124-4D6E5885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5CA7-9EF3-40A2-95F2-8EF16B26BE6A}" type="datetime1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85F774-367D-382E-36A4-B02393AB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2816B7-62C6-5A7E-6221-A1C3BFAD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2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92608-AD05-9047-97D8-E93C65FF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238BA-2101-77D5-A4A4-FC7194BA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9540-2548-477D-A6DA-EDB84F67A50B}" type="datetime1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BF0DD2-0F4D-22FB-9506-1208C7DD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478D59-A710-67CE-9B76-A263D4B0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5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8E2444-CD58-EA1B-B50E-CE11C51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C029-194E-49EB-BA02-35756DA27575}" type="datetime1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10BB43-416E-C502-0F45-D775BEC0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7ECDD-7BAF-97B9-6CBB-FC6C011F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1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987DC-2CF0-A417-54B2-EB45847C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B83F4-BB96-ABA4-D745-BFF31E9D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03BE5-A6FD-B9F1-B587-54F7D6F7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0B34B-03D1-CB35-F9AE-9676E756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CD5A-8A32-448E-8FB6-21BB2461D800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EEDB42-EF94-B74D-FFE7-AEEBCE66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CE31A8-9A03-2ECD-356B-105A2DC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00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275C9-7E70-5004-7B95-36350E0F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2B57CA-452A-2A34-7E96-F835183AF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A32018-C8DE-2E14-570A-47776409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C992C-AA87-E56F-BF8D-ACB7934F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9BF4E-BA3A-41CB-9559-EB408650D4F0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00FC96-E622-5106-A5AE-813FA528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3811D-1610-9287-2708-3EC0E48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30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11837-011F-931C-53F9-AC857C4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D3AE-FF19-7B37-DAA8-952CF5644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2F4D5-4F29-AAA2-D0B8-ED332AE1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7BD34-D32B-4D72-9CBA-4E8D578FEEE7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CD33D-1639-1C28-89A1-B4CD7995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FF268-F5B4-B806-9A84-E613BB98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01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6B3C08-346F-3C81-D7C3-470FD0CC6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13B125-F7C1-BA50-74E5-9532D7DB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94640D-C2A1-81D1-B46A-EC3CD65D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85BE-6B8F-41F3-A0F2-64C4E49B1807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06C275-6A53-9424-13E9-EDB738B0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05B914-D3CF-239C-B60A-DA29285D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9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0D70B-ECE8-4548-DCA1-2D3D5105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D11D8A-F8B5-F07E-8C28-BD7E27E8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890C8-E192-9413-A04C-AF73FBE9A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FBBDD-9558-4802-8A3E-66A2C0A2BB66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82FD1-0430-A04B-58D3-01321D466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7C9A9-A8A9-77B5-50C8-66103CF77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5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D6347-2948-828C-BECF-D54422C5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239002"/>
            <a:ext cx="10801350" cy="2047248"/>
          </a:xfrm>
        </p:spPr>
        <p:txBody>
          <a:bodyPr anchor="ctr">
            <a:noAutofit/>
          </a:bodyPr>
          <a:lstStyle/>
          <a:p>
            <a:r>
              <a:rPr lang="ru-RU" sz="4500" dirty="0"/>
              <a:t>Практическая работа №4:</a:t>
            </a:r>
            <a:br>
              <a:rPr lang="ru-RU" sz="4500" dirty="0"/>
            </a:br>
            <a:r>
              <a:rPr lang="ru-RU" sz="4500" b="1" dirty="0"/>
              <a:t>Методы цифровой фильтрации изображений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1C6DBC-CA8F-F90E-3B35-57B4F6F4A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4286250"/>
            <a:ext cx="10801349" cy="404478"/>
          </a:xfrm>
        </p:spPr>
        <p:txBody>
          <a:bodyPr anchor="ctr">
            <a:normAutofit lnSpcReduction="10000"/>
          </a:bodyPr>
          <a:lstStyle/>
          <a:p>
            <a:r>
              <a:rPr lang="ru-RU" dirty="0"/>
              <a:t>Вариант №3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5BA5D-C693-EE1D-CB03-23984F88CBB5}"/>
              </a:ext>
            </a:extLst>
          </p:cNvPr>
          <p:cNvSpPr txBox="1"/>
          <p:nvPr/>
        </p:nvSpPr>
        <p:spPr>
          <a:xfrm>
            <a:off x="8801601" y="5354618"/>
            <a:ext cx="2695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Работу выполнили:</a:t>
            </a:r>
            <a:br>
              <a:rPr lang="ru-RU" sz="1400" dirty="0"/>
            </a:br>
            <a:r>
              <a:rPr lang="ru-RU" sz="1400" dirty="0"/>
              <a:t>студенты 932302 группы</a:t>
            </a:r>
            <a:br>
              <a:rPr lang="ru-RU" sz="1400" dirty="0"/>
            </a:br>
            <a:r>
              <a:rPr lang="ru-RU" sz="1400" dirty="0"/>
              <a:t>Акрамов </a:t>
            </a:r>
            <a:r>
              <a:rPr lang="ru-RU" sz="1400" dirty="0" err="1"/>
              <a:t>Темирлан</a:t>
            </a:r>
            <a:r>
              <a:rPr lang="ru-RU" sz="1400" dirty="0"/>
              <a:t>,</a:t>
            </a:r>
            <a:br>
              <a:rPr lang="ru-RU" sz="1400" dirty="0"/>
            </a:br>
            <a:r>
              <a:rPr lang="ru-RU" sz="1400" dirty="0"/>
              <a:t>Гуров Иван</a:t>
            </a:r>
          </a:p>
        </p:txBody>
      </p:sp>
    </p:spTree>
    <p:extLst>
      <p:ext uri="{BB962C8B-B14F-4D97-AF65-F5344CB8AC3E}">
        <p14:creationId xmlns:p14="http://schemas.microsoft.com/office/powerpoint/2010/main" val="6882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5B349-53B7-2440-E02F-489C9877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5"/>
            <a:ext cx="10801350" cy="1276350"/>
          </a:xfrm>
        </p:spPr>
        <p:txBody>
          <a:bodyPr>
            <a:normAutofit/>
          </a:bodyPr>
          <a:lstStyle/>
          <a:p>
            <a:pPr algn="just"/>
            <a:r>
              <a:rPr lang="ru-RU" b="1" dirty="0">
                <a:latin typeface="+mn-lt"/>
              </a:rPr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A078A-D5D7-5B07-C4F8-ADB919DB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25625"/>
            <a:ext cx="10801350" cy="4483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1. Применить усредняющий фильтр (размеры окон 3×3 и 9×9).</a:t>
            </a:r>
          </a:p>
          <a:p>
            <a:pPr marL="0" indent="0">
              <a:buNone/>
            </a:pPr>
            <a:r>
              <a:rPr lang="ru-RU" dirty="0"/>
              <a:t>2. Сравнить работу медианного и гауссова фильтров на изображении с шумом.</a:t>
            </a:r>
          </a:p>
          <a:p>
            <a:pPr marL="0" indent="0">
              <a:buNone/>
            </a:pPr>
            <a:r>
              <a:rPr lang="ru-RU" dirty="0"/>
              <a:t>3. Построить градиентное изображение по оператору </a:t>
            </a:r>
            <a:r>
              <a:rPr lang="ru-RU" dirty="0" err="1"/>
              <a:t>Собеля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4. Применить гауссов фильтр с большим σ для сильного размытия.</a:t>
            </a:r>
          </a:p>
          <a:p>
            <a:pPr marL="0" indent="0">
              <a:buNone/>
            </a:pPr>
            <a:r>
              <a:rPr lang="ru-RU" dirty="0"/>
              <a:t>5. Реализовать гауссов НЧ-фильтр в частотной области.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1EA1AE-2C5B-FB9C-5E04-AC6D5FF9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4316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65739"/>
            <a:ext cx="108013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Подготовка к работе: импорт библиотек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393417"/>
            <a:ext cx="108013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Импортируем необходимые для работы библиотеки </a:t>
            </a:r>
            <a:r>
              <a:rPr lang="en-US" sz="2000" dirty="0" err="1"/>
              <a:t>Numpy</a:t>
            </a:r>
            <a:r>
              <a:rPr lang="en-US" sz="2000" dirty="0"/>
              <a:t>, OpenCV, </a:t>
            </a:r>
            <a:r>
              <a:rPr lang="en-US" sz="2000" dirty="0" err="1"/>
              <a:t>Pyplot</a:t>
            </a:r>
            <a:r>
              <a:rPr lang="en-US" sz="2000" dirty="0"/>
              <a:t> </a:t>
            </a:r>
            <a:r>
              <a:rPr lang="ru-RU" sz="2000" dirty="0"/>
              <a:t>и определяем вспомогательную функцию для отображения картинок на выводе.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3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8702CC-61F5-D7E3-7219-35F02EB1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237" y="2405761"/>
            <a:ext cx="3719764" cy="39029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1A1F98C-3CEF-6F79-9C00-43405E49B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669" y="2616867"/>
            <a:ext cx="2924425" cy="365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545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1. Применить усредняющий фильтр (размер окон 3х3 и 9х9)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743115"/>
            <a:ext cx="108013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демонстрация того, как увеличение размера окна (с 3×3 до 9×9) пропорционально усиливает степень размытия и потерю мелких деталей.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4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297370-E083-3B8E-F852-045F41D02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281" y="2685314"/>
            <a:ext cx="7691438" cy="26638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D9468C-225F-029B-3EE6-4DDAA7F63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029" y="5381242"/>
            <a:ext cx="7597942" cy="9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672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2. Сравнить работу медианного и гауссова фильтров на изображении с шумом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2015792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борьба с импульсным шумом и доказательство того, что нелинейный медианный фильтр полностью удаляет точечные дефекты, а линейный фильтр Гаусса лишь размазывает их.  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B3087A-B667-0F15-61A2-6F498AF2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3538445"/>
            <a:ext cx="10801350" cy="27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0979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2. Сравнить работу медианного и гауссова фильтров на изображении с шумом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2015792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борьба с импульсным шумом и доказательство того, что нелинейный медианный фильтр полностью удаляет точечные дефекты, а линейный фильтр Гаусса лишь размазывает их.  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B3087A-B667-0F15-61A2-6F498AF22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325" y="3538445"/>
            <a:ext cx="10801350" cy="2764860"/>
          </a:xfrm>
          <a:prstGeom prst="rect">
            <a:avLst/>
          </a:prstGeom>
          <a:effectLst>
            <a:softEdge rad="127000"/>
          </a:effectLst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793DF61-FC81-0CA6-E54F-3A157223EF9B}"/>
              </a:ext>
            </a:extLst>
          </p:cNvPr>
          <p:cNvGrpSpPr/>
          <p:nvPr/>
        </p:nvGrpSpPr>
        <p:grpSpPr>
          <a:xfrm>
            <a:off x="2472164" y="3227430"/>
            <a:ext cx="7247672" cy="2961239"/>
            <a:chOff x="2472164" y="3227430"/>
            <a:chExt cx="7247672" cy="2961239"/>
          </a:xfrm>
          <a:effectLst>
            <a:outerShdw blurRad="254000" dir="5400000" algn="tl" rotWithShape="0">
              <a:prstClr val="black">
                <a:alpha val="60000"/>
              </a:prstClr>
            </a:outerShdw>
          </a:effectLst>
        </p:grpSpPr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45099B7A-FDED-AF0F-82BD-6BF63DBD7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30" t="24549"/>
            <a:stretch/>
          </p:blipFill>
          <p:spPr>
            <a:xfrm>
              <a:off x="5313446" y="3227430"/>
              <a:ext cx="1565108" cy="311014"/>
            </a:xfrm>
            <a:prstGeom prst="rect">
              <a:avLst/>
            </a:prstGeom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78196CC5-1816-86A6-B366-AC3B25583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692"/>
            <a:stretch/>
          </p:blipFill>
          <p:spPr>
            <a:xfrm>
              <a:off x="2472164" y="3653080"/>
              <a:ext cx="7247672" cy="2535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448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3. Построить градиентное изображение по оператору </a:t>
            </a:r>
            <a:r>
              <a:rPr lang="ru-RU" sz="2800" b="1" dirty="0" err="1">
                <a:latin typeface="+mj-lt"/>
              </a:rPr>
              <a:t>Собеля</a:t>
            </a:r>
            <a:endParaRPr lang="ru-RU" sz="2800" b="1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973028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выделение контуров объектов, поиск резких перепадов яркости по горизонтали и вертикали с последующим объединением их в итоговую карту границ изображения.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0347E3-6DD3-1B1F-EA04-03835AC9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3452918"/>
            <a:ext cx="10801350" cy="285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746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3. Построить градиентное изображение по оператору </a:t>
            </a:r>
            <a:r>
              <a:rPr lang="ru-RU" sz="2800" b="1" dirty="0" err="1">
                <a:latin typeface="+mj-lt"/>
              </a:rPr>
              <a:t>Собеля</a:t>
            </a:r>
            <a:endParaRPr lang="ru-RU" sz="2800" b="1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973028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выделение контуров объектов, поиск резких перепадов яркости по горизонтали и вертикали с последующим объединением их в итоговую карту границ изображения.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0347E3-6DD3-1B1F-EA04-03835AC97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325" y="3452918"/>
            <a:ext cx="10801350" cy="2855807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C42392F-D3D1-1C47-DAE2-7834FCBC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33" r="1167"/>
          <a:stretch/>
        </p:blipFill>
        <p:spPr>
          <a:xfrm>
            <a:off x="1662258" y="3708568"/>
            <a:ext cx="8867484" cy="2344506"/>
          </a:xfrm>
          <a:prstGeom prst="rect">
            <a:avLst/>
          </a:prstGeom>
          <a:effectLst>
            <a:outerShdw blurRad="508000" dir="5400000" algn="tl" rotWithShape="0">
              <a:prstClr val="black">
                <a:alpha val="8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3651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4. Применить гауссов фильтр с большим σ для сильного размытия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649251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достижение эффекта сильного, но плавного </a:t>
            </a:r>
            <a:r>
              <a:rPr lang="ru-RU" sz="2000" dirty="0" err="1"/>
              <a:t>расфокуса</a:t>
            </a:r>
            <a:r>
              <a:rPr lang="ru-RU" sz="2000" dirty="0"/>
              <a:t>. Показывает, как параметр стандартного отклонения (σ = 10) напрямую управляет интенсивностью размытия независимо от жестких размеров окна.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9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DBB0EF-8CCE-D9AD-C91C-FBBFCA45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541" y="2805363"/>
            <a:ext cx="7206916" cy="350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629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4. Применить гауссов фильтр с большим σ для сильного размытия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649251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достижение эффекта сильного, но плавного </a:t>
            </a:r>
            <a:r>
              <a:rPr lang="ru-RU" sz="2000" dirty="0" err="1"/>
              <a:t>расфокуса</a:t>
            </a:r>
            <a:r>
              <a:rPr lang="ru-RU" sz="2000" dirty="0"/>
              <a:t>. Показывает, как параметр стандартного отклонения (σ = 10) напрямую управляет интенсивностью размытия независимо от жестких размеров окна.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10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DBB0EF-8CCE-D9AD-C91C-FBBFCA458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2541" y="2805363"/>
            <a:ext cx="7206916" cy="350336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690F51-D055-8B75-E0A7-591F31D8D8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282" b="-1"/>
          <a:stretch/>
        </p:blipFill>
        <p:spPr>
          <a:xfrm>
            <a:off x="1246088" y="3955927"/>
            <a:ext cx="9699823" cy="1202233"/>
          </a:xfrm>
          <a:prstGeom prst="rect">
            <a:avLst/>
          </a:prstGeom>
          <a:effectLst>
            <a:outerShdw blurRad="508000" dir="5400000" algn="tl" rotWithShape="0">
              <a:prstClr val="black">
                <a:alpha val="8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8337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5. Реализовать гауссов НЧ-фильтр в частотной области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315563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сглаживание изображения через преобразование Фурье</a:t>
            </a:r>
            <a:r>
              <a:rPr lang="en-US" sz="2000" dirty="0"/>
              <a:t>;</a:t>
            </a:r>
            <a:r>
              <a:rPr lang="ru-RU" sz="2000" dirty="0"/>
              <a:t> использование плавной гауссовой маски низких частот позволяет подавить мелкие детали и шум без артефактов, характерных для идеального фильтра.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B0458B-2944-D608-F74C-B7F02160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574294"/>
            <a:ext cx="10801350" cy="373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1752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5. Реализовать гауссов НЧ-фильтр в частотной области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315563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сглаживание изображения через преобразование Фурье</a:t>
            </a:r>
            <a:r>
              <a:rPr lang="en-US" sz="2000" dirty="0"/>
              <a:t>;</a:t>
            </a:r>
            <a:r>
              <a:rPr lang="ru-RU" sz="2000" dirty="0"/>
              <a:t> использование плавной гауссовой маски низких частот позволяет подавить мелкие детали и шум без артефактов, характерных для идеального фильтра.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B0458B-2944-D608-F74C-B7F02160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325" y="2574294"/>
            <a:ext cx="10801350" cy="373443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000EEA-5087-842E-1CAC-F09A1E34E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450" y="2939792"/>
            <a:ext cx="6223100" cy="3093319"/>
          </a:xfrm>
          <a:prstGeom prst="rect">
            <a:avLst/>
          </a:prstGeom>
          <a:effectLst>
            <a:outerShdw blurRad="508000" dir="5400000" algn="tl" rotWithShape="0">
              <a:prstClr val="black">
                <a:alpha val="8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4024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265150"/>
            <a:ext cx="10801350" cy="48936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1300" b="1" dirty="0"/>
              <a:t>1. Что такое фильтрация изображений и для чего она используется?</a:t>
            </a:r>
          </a:p>
          <a:p>
            <a:pPr algn="just"/>
            <a:r>
              <a:rPr lang="ru-RU" sz="1300" dirty="0"/>
              <a:t>Фильтрация изображений - обработка значений пикселей или частотных составляющих изображения. Она применяется для подавления шумов, сглаживания, повышения резкости и выделения границ.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2. Чем отличается линейная фильтрация от нелинейной?</a:t>
            </a:r>
          </a:p>
          <a:p>
            <a:pPr algn="just"/>
            <a:r>
              <a:rPr lang="ru-RU" sz="1300" dirty="0"/>
              <a:t>При линейной фильтрации значение выходного пикселя получают как взвешенную сумму значений соседних пикселей, в нелинейных фильтрах используются нелинейные операции, например медиана, минимум или максимум.</a:t>
            </a:r>
          </a:p>
          <a:p>
            <a:pPr algn="just"/>
            <a:endParaRPr lang="ru-RU" sz="1300" dirty="0"/>
          </a:p>
          <a:p>
            <a:pPr algn="just"/>
            <a:r>
              <a:rPr lang="ru-RU" sz="1300" b="1" dirty="0"/>
              <a:t>3. Какие виды шумов бывают на изображениях?</a:t>
            </a:r>
          </a:p>
          <a:p>
            <a:pPr algn="just"/>
            <a:r>
              <a:rPr lang="ru-RU" sz="1300" dirty="0"/>
              <a:t>Часто встречаются гауссовский шум и «соль и перец». Также на практике встречаются пуассоновский и </a:t>
            </a:r>
            <a:r>
              <a:rPr lang="ru-RU" sz="1300" dirty="0" err="1"/>
              <a:t>спекл</a:t>
            </a:r>
            <a:r>
              <a:rPr lang="ru-RU" sz="1300" dirty="0"/>
              <a:t>-шум.</a:t>
            </a:r>
          </a:p>
          <a:p>
            <a:pPr algn="just"/>
            <a:endParaRPr lang="ru-RU" sz="1300" dirty="0"/>
          </a:p>
          <a:p>
            <a:pPr algn="just"/>
            <a:r>
              <a:rPr lang="ru-RU" sz="1300" b="1" dirty="0"/>
              <a:t>4. Как размер окна фильтра влияет на результат фильтрации?</a:t>
            </a:r>
          </a:p>
          <a:p>
            <a:pPr algn="just"/>
            <a:r>
              <a:rPr lang="ru-RU" sz="1300" dirty="0"/>
              <a:t>Чем больше окно, тем сильнее сглаживание и подавление шума. Одновременно сильнее размываются границы и теряются мелкие детали.</a:t>
            </a:r>
          </a:p>
          <a:p>
            <a:pPr algn="just"/>
            <a:endParaRPr lang="ru-RU" sz="1300" dirty="0"/>
          </a:p>
          <a:p>
            <a:pPr algn="just"/>
            <a:r>
              <a:rPr lang="ru-RU" sz="1300" b="1" dirty="0"/>
              <a:t>5. В каких случаях предпочтительно использовать пространственную фильтрацию, а в каких - частотную?</a:t>
            </a:r>
          </a:p>
          <a:p>
            <a:pPr algn="just"/>
            <a:r>
              <a:rPr lang="ru-RU" sz="1300" dirty="0"/>
              <a:t>Пространственная фильтрация удобна для локальной обработки пикселей: сглаживания, медианной фильтрации, выделения границ. Частотная фильтрация удобна, когда нужно управлять низкими, высокими или заданным диапазоном пространственных частот. </a:t>
            </a:r>
          </a:p>
          <a:p>
            <a:pPr algn="just"/>
            <a:endParaRPr lang="ru-RU" sz="1300" dirty="0"/>
          </a:p>
          <a:p>
            <a:pPr algn="just"/>
            <a:r>
              <a:rPr lang="ru-RU" sz="1300" b="1" dirty="0"/>
              <a:t>6. В чём принцип работы усредняющего фильтра?</a:t>
            </a:r>
          </a:p>
          <a:p>
            <a:pPr algn="just"/>
            <a:r>
              <a:rPr lang="ru-RU" sz="1300" dirty="0"/>
              <a:t>Каждый пиксель заменяется средним значением пикселей внутри выбранного окна. Это уменьшает шум, но размывает границы.</a:t>
            </a:r>
          </a:p>
          <a:p>
            <a:pPr algn="just"/>
            <a:endParaRPr lang="ru-RU" sz="1300" dirty="0"/>
          </a:p>
          <a:p>
            <a:pPr algn="just"/>
            <a:r>
              <a:rPr lang="ru-RU" sz="1300" b="1" dirty="0"/>
              <a:t>7. Как гауссов фильтр отличается от простого усреднения?</a:t>
            </a:r>
          </a:p>
          <a:p>
            <a:pPr algn="just"/>
            <a:r>
              <a:rPr lang="ru-RU" sz="1300" dirty="0"/>
              <a:t>В усредняющем фильтре все пиксели окна имеют одинаковый вес. В гауссовом фильтре больший вес получают пиксели, расположенные ближе к центру ядра, поэтому размытие получается более плавным.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2104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167571"/>
            <a:ext cx="10801350" cy="50937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1300" b="1" dirty="0"/>
              <a:t>8. Для какого типа шума эффективен медианный фильтр?</a:t>
            </a:r>
          </a:p>
          <a:p>
            <a:pPr algn="just"/>
            <a:r>
              <a:rPr lang="ru-RU" sz="1300" dirty="0"/>
              <a:t>Медианный фильтр особенно эффективен для импульсного шума «соль и перец».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9. Что делают операторы </a:t>
            </a:r>
            <a:r>
              <a:rPr lang="ru-RU" sz="1300" b="1" dirty="0" err="1"/>
              <a:t>Собеля</a:t>
            </a:r>
            <a:r>
              <a:rPr lang="ru-RU" sz="1300" b="1" dirty="0"/>
              <a:t> и </a:t>
            </a:r>
            <a:r>
              <a:rPr lang="ru-RU" sz="1300" b="1" dirty="0" err="1"/>
              <a:t>Превитта</a:t>
            </a:r>
            <a:r>
              <a:rPr lang="ru-RU" sz="1300" b="1" dirty="0"/>
              <a:t>?</a:t>
            </a:r>
          </a:p>
          <a:p>
            <a:pPr algn="just"/>
            <a:r>
              <a:rPr lang="ru-RU" sz="1300" dirty="0"/>
              <a:t>Они оценивают градиент яркости изображения и используются для выделения границ и контуров.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10. Чем оператор Лапласа отличается от оператора </a:t>
            </a:r>
            <a:r>
              <a:rPr lang="ru-RU" sz="1300" b="1" dirty="0" err="1"/>
              <a:t>Собеля</a:t>
            </a:r>
            <a:r>
              <a:rPr lang="ru-RU" sz="1300" b="1" dirty="0"/>
              <a:t>?</a:t>
            </a:r>
          </a:p>
          <a:p>
            <a:pPr algn="just"/>
            <a:r>
              <a:rPr lang="ru-RU" sz="1300" dirty="0" err="1"/>
              <a:t>Собель</a:t>
            </a:r>
            <a:r>
              <a:rPr lang="ru-RU" sz="1300" dirty="0"/>
              <a:t> оценивает первую производную и позволяет учитывать направление изменения яркости. Лаплас основан на второй производной и реагирует на резкие изменения яркости во всех направлениях, но сильнее усиливает шум.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11. Как реализуется фильтр повышения резкости (</a:t>
            </a:r>
            <a:r>
              <a:rPr lang="ru-RU" sz="1300" b="1" dirty="0" err="1"/>
              <a:t>sharpen</a:t>
            </a:r>
            <a:r>
              <a:rPr lang="ru-RU" sz="1300" b="1" dirty="0"/>
              <a:t>, </a:t>
            </a:r>
            <a:r>
              <a:rPr lang="ru-RU" sz="1300" b="1" dirty="0" err="1"/>
              <a:t>unsharp</a:t>
            </a:r>
            <a:r>
              <a:rPr lang="ru-RU" sz="1300" b="1" dirty="0"/>
              <a:t> </a:t>
            </a:r>
            <a:r>
              <a:rPr lang="ru-RU" sz="1300" b="1" dirty="0" err="1"/>
              <a:t>masking</a:t>
            </a:r>
            <a:r>
              <a:rPr lang="ru-RU" sz="1300" b="1" dirty="0"/>
              <a:t>)?</a:t>
            </a:r>
          </a:p>
          <a:p>
            <a:pPr algn="just"/>
            <a:r>
              <a:rPr lang="ru-RU" sz="1300" dirty="0"/>
              <a:t>Повышение резкости выполняется усилением высокочастотных деталей и границ. В </a:t>
            </a:r>
            <a:r>
              <a:rPr lang="ru-RU" sz="1300" dirty="0" err="1"/>
              <a:t>unsharp</a:t>
            </a:r>
            <a:r>
              <a:rPr lang="ru-RU" sz="1300" dirty="0"/>
              <a:t> </a:t>
            </a:r>
            <a:r>
              <a:rPr lang="ru-RU" sz="1300" dirty="0" err="1"/>
              <a:t>masking</a:t>
            </a:r>
            <a:r>
              <a:rPr lang="ru-RU" sz="1300" dirty="0"/>
              <a:t> сначала получают размытую копию изображения, затем находят разность между исходным и размытым изображением и добавляют эту разность к исходному.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12. Как интерпретировать низкие и высокие частоты изображения?</a:t>
            </a:r>
          </a:p>
          <a:p>
            <a:pPr algn="just"/>
            <a:r>
              <a:rPr lang="ru-RU" sz="1300" dirty="0"/>
              <a:t>Низкие частоты соответствуют плавным изменениям яркости и крупным однородным областям. Высокие частоты соответствуют резким переходам, границам, мелким деталям и шуму.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13. Как выполняется переход от пространственной области к частотной?</a:t>
            </a:r>
          </a:p>
          <a:p>
            <a:pPr algn="just"/>
            <a:r>
              <a:rPr lang="ru-RU" sz="1300" dirty="0"/>
              <a:t>Используется дискретное преобразование Фурье (ДПФ). На практике его обычно вычисляют с помощью быстрого преобразования Фурье (БПФ, FFT).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14. Какие шаги выполняются при фильтрации изображения в частотной области?</a:t>
            </a:r>
          </a:p>
          <a:p>
            <a:pPr algn="just"/>
            <a:r>
              <a:rPr lang="ru-RU" sz="1300" dirty="0"/>
              <a:t>Сначала вычисляют преобразование Фурье, затем спектр умножают на маску выбранного фильтра. После этого выполняют обратное преобразование Фурье и получают отфильтрованное изображение.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157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367626"/>
            <a:ext cx="10801350" cy="46935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1300" b="1" dirty="0"/>
              <a:t>15. Чем отличается идеальный низкочастотный фильтр от гауссова НЧ-фильтра?</a:t>
            </a:r>
          </a:p>
          <a:p>
            <a:pPr algn="just"/>
            <a:r>
              <a:rPr lang="ru-RU" sz="1300" dirty="0"/>
              <a:t>Идеальный НЧ-фильтр имеет резкую границу между пропускаемыми и подавляемыми частотами. Гауссов НЧ-фильтр изменяет коэффициенты плавно, поэтому обычно не создаёт выраженного «звона».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16. Какие артефакты могут возникнуть при использовании идеального НЧ-фильтра?</a:t>
            </a:r>
          </a:p>
          <a:p>
            <a:pPr algn="just"/>
            <a:r>
              <a:rPr lang="ru-RU" sz="1300" dirty="0"/>
              <a:t>Из-за резкого обрезания частот могут появляться колебания около границ объектов - артефакт «звон».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17. Как работает высокочастотный фильтр и для чего он применяется?</a:t>
            </a:r>
          </a:p>
          <a:p>
            <a:pPr algn="just"/>
            <a:r>
              <a:rPr lang="ru-RU" sz="1300" dirty="0"/>
              <a:t>Он подавляет низкие частоты и оставляет высокие. Это используется для выделения и усиления границ и мелких деталей. Недостаток — вместе с деталями может усиливаться шум.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18. Что такое полосовой фильтр (BPF) и где он может использоваться?</a:t>
            </a:r>
          </a:p>
          <a:p>
            <a:pPr algn="just"/>
            <a:r>
              <a:rPr lang="ru-RU" sz="1300" dirty="0"/>
              <a:t>Полосовой фильтр пропускает только заданный диапазон частот и подавляет остальные. Он может применяться для выделения определённых текстур или структур изображения.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19. Какие преимущества даёт частотная фильтрация по сравнению с пространственной?</a:t>
            </a:r>
          </a:p>
          <a:p>
            <a:pPr algn="just"/>
            <a:r>
              <a:rPr lang="ru-RU" sz="1300" dirty="0"/>
              <a:t>Она позволяет непосредственно управлять частотными составляющими изображения: удалять низкие или высокие частоты, оставлять выбранный диапазон, а также удобно работать с периодическими компонентами и большими фильтрами.</a:t>
            </a:r>
          </a:p>
          <a:p>
            <a:pPr algn="just"/>
            <a:endParaRPr lang="ru-RU" sz="1300" b="1" dirty="0"/>
          </a:p>
          <a:p>
            <a:pPr algn="just"/>
            <a:r>
              <a:rPr lang="ru-RU" sz="1300" b="1" dirty="0"/>
              <a:t>20. Почему фильтрация через БПФ может быть более эффективной при больших ядрах свёртки?</a:t>
            </a:r>
          </a:p>
          <a:p>
            <a:pPr algn="just"/>
            <a:r>
              <a:rPr lang="ru-RU" sz="1300" dirty="0"/>
              <a:t>Согласно теореме о свёртке, свёртке в пространственной области соответствует умножение спектров в частотной области. Для больших ядер вычислить БПФ, выполнить поэлементное умножение и обратное БПФ часто быстрее, чем выполнять большое число операций свёртки непосредственно для каждого пикселя.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65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0652-C363-06DA-A12C-453394A0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58293"/>
            <a:ext cx="10801349" cy="114141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0CA38D-6AB6-8BDB-808C-C23C15E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21519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1204</Words>
  <Application>Microsoft Office PowerPoint</Application>
  <PresentationFormat>Широкоэкранный</PresentationFormat>
  <Paragraphs>105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Тема Office</vt:lpstr>
      <vt:lpstr>Практическая работа №4: Методы цифровой фильтрации изображений</vt:lpstr>
      <vt:lpstr>Задания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Temirlan Akramov</dc:creator>
  <cp:lastModifiedBy>Temirlan Akramov</cp:lastModifiedBy>
  <cp:revision>12</cp:revision>
  <dcterms:created xsi:type="dcterms:W3CDTF">2026-09-16T15:58:33Z</dcterms:created>
  <dcterms:modified xsi:type="dcterms:W3CDTF">2026-09-30T23:26:24Z</dcterms:modified>
</cp:coreProperties>
</file>