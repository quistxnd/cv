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sldIdLst>
    <p:sldId id="256" r:id="rId2"/>
    <p:sldId id="285" r:id="rId3"/>
    <p:sldId id="291" r:id="rId4"/>
    <p:sldId id="305" r:id="rId5"/>
    <p:sldId id="284" r:id="rId6"/>
    <p:sldId id="292" r:id="rId7"/>
    <p:sldId id="299" r:id="rId8"/>
    <p:sldId id="294" r:id="rId9"/>
    <p:sldId id="298" r:id="rId10"/>
    <p:sldId id="296" r:id="rId11"/>
    <p:sldId id="297" r:id="rId12"/>
    <p:sldId id="300" r:id="rId13"/>
    <p:sldId id="301" r:id="rId14"/>
    <p:sldId id="302" r:id="rId15"/>
    <p:sldId id="303" r:id="rId16"/>
    <p:sldId id="304" r:id="rId17"/>
    <p:sldId id="275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6" userDrawn="1">
          <p15:clr>
            <a:srgbClr val="A4A3A4"/>
          </p15:clr>
        </p15:guide>
        <p15:guide id="2" orient="horz" pos="3974" userDrawn="1">
          <p15:clr>
            <a:srgbClr val="A4A3A4"/>
          </p15:clr>
        </p15:guide>
        <p15:guide id="3" pos="438" userDrawn="1">
          <p15:clr>
            <a:srgbClr val="A4A3A4"/>
          </p15:clr>
        </p15:guide>
        <p15:guide id="4" pos="7242" userDrawn="1">
          <p15:clr>
            <a:srgbClr val="A4A3A4"/>
          </p15:clr>
        </p15:guide>
        <p15:guide id="5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40" d="100"/>
          <a:sy n="140" d="100"/>
        </p:scale>
        <p:origin x="132" y="546"/>
      </p:cViewPr>
      <p:guideLst>
        <p:guide orient="horz" pos="346"/>
        <p:guide orient="horz" pos="3974"/>
        <p:guide pos="438"/>
        <p:guide pos="724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B8FABF-92EB-4A28-9D96-EEEDC3A31D40}" type="datetimeFigureOut">
              <a:rPr lang="ru-RU" smtClean="0"/>
              <a:t>13.10.2026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87C420-320D-43F3-8A1E-7EA6D07B5A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3086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A4CA74-5891-0962-7F34-2D269883BC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364628B-ACFC-48BD-994A-A45DD37153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CAB6A32-3498-D97F-C566-BFD3B9D03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DEE1F-2934-495D-856C-8D902092E890}" type="datetime1">
              <a:rPr lang="ru-RU" smtClean="0"/>
              <a:t>13.10.2026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6321E8-D9B6-367F-E84E-51DDB4F6E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F59484B-4F4B-27E6-B99D-C697E1307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6252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5D697F-B881-D447-A8A1-3653B7B02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EB53F89-90BF-2629-502D-5931D4066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F6EA5B8-4726-9188-6115-B89106A16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4DE2A-647D-4500-9D2E-502AC02C4614}" type="datetime1">
              <a:rPr lang="ru-RU" smtClean="0"/>
              <a:t>13.10.2026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B00C1B-CF92-0371-90DB-79F8D564C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A90595D-A75F-CAB5-AE90-E3E07EB49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1387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0A941C-ACAE-B768-7847-E6775439C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E1B2D38-00F6-3DFA-E503-F0C09CEAA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EFF993-96BC-9FC1-91ED-92777C561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44451-672F-45F1-88E4-8B4F5094B741}" type="datetime1">
              <a:rPr lang="ru-RU" smtClean="0"/>
              <a:t>13.10.2026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8EF5120-F671-1C1E-3C47-E98D2E581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00AE5C-F751-1159-5464-822147EB9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0504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389D2C-3651-CAFC-EF50-E83DF2EDB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1247EC4-6DE9-B843-CAF2-ECE6808F64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E7E96C9-AD9C-F0F3-2E8C-448EA93C8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71F51A0-F82C-0F42-DA6A-C48D9844F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36CC5-59D3-433C-92EF-64C02CE878DA}" type="datetime1">
              <a:rPr lang="ru-RU" smtClean="0"/>
              <a:t>13.10.2026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F83A810-3FD3-3810-80CA-B4428307C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CF73FCE-213E-6581-2041-1B43E3B93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4679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E52D6-1E2A-DE3E-2D07-2E3639A0F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A30DD91-D018-EAF1-500D-F8F9F4BF3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DA85A0B-BEBB-9177-5351-7804EF964F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61C7659-04A4-F62B-7725-6100AA605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367E88D-9109-7F25-8154-BFA4446255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6E328C5-8E0E-C1ED-C124-4D6E58853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05CA7-9EF3-40A2-95F2-8EF16B26BE6A}" type="datetime1">
              <a:rPr lang="ru-RU" smtClean="0"/>
              <a:t>13.10.2026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485F774-367D-382E-36A4-B02393AB6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D2816B7-62C6-5A7E-6221-A1C3BFAD7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3821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992608-AD05-9047-97D8-E93C65FFE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F8238BA-2101-77D5-A4A4-FC7194BAF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69540-2548-477D-A6DA-EDB84F67A50B}" type="datetime1">
              <a:rPr lang="ru-RU" smtClean="0"/>
              <a:t>13.10.2026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ABF0DD2-0F4D-22FB-9506-1208C7DDE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B478D59-A710-67CE-9B76-A263D4B06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9252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58E2444-CD58-EA1B-B50E-CE11C519D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2C029-194E-49EB-BA02-35756DA27575}" type="datetime1">
              <a:rPr lang="ru-RU" smtClean="0"/>
              <a:t>13.10.2026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610BB43-416E-C502-0F45-D775BEC01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87ECDD-7BAF-97B9-6CBB-FC6C011F4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1106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0987DC-2CF0-A417-54B2-EB45847C1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BBB83F4-BB96-ABA4-D745-BFF31E9D1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8903BE5-A6FD-B9F1-B587-54F7D6F79F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0B34B-03D1-CB35-F9AE-9676E7561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9CD5A-8A32-448E-8FB6-21BB2461D800}" type="datetime1">
              <a:rPr lang="ru-RU" smtClean="0"/>
              <a:t>13.10.2026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4EEDB42-EF94-B74D-FFE7-AEEBCE667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9CE31A8-9A03-2ECD-356B-105A2DC52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3009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9275C9-7E70-5004-7B95-36350E0F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2B57CA-452A-2A34-7E96-F835183AF1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A32018-C8DE-2E14-570A-477764094E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5C992C-AA87-E56F-BF8D-ACB7934F4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9BF4E-BA3A-41CB-9559-EB408650D4F0}" type="datetime1">
              <a:rPr lang="ru-RU" smtClean="0"/>
              <a:t>13.10.2026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000FC96-E622-5106-A5AE-813FA528A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153811D-1610-9287-2708-3EC0E4811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7304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E11837-011F-931C-53F9-AC857C4D4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8E5D3AE-FF19-7B37-DAA8-952CF56443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972F4D5-4F29-AAA2-D0B8-ED332AE17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7BD34-D32B-4D72-9CBA-4E8D578FEEE7}" type="datetime1">
              <a:rPr lang="ru-RU" smtClean="0"/>
              <a:t>13.10.2026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FCD33D-1639-1C28-89A1-B4CD79954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0FF268-F5B4-B806-9A84-E613BB981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4017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A6B3C08-346F-3C81-D7C3-470FD0CC6A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B13B125-F7C1-BA50-74E5-9532D7DB4F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94640D-C2A1-81D1-B46A-EC3CD65DF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685BE-6B8F-41F3-A0F2-64C4E49B1807}" type="datetime1">
              <a:rPr lang="ru-RU" smtClean="0"/>
              <a:t>13.10.2026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906C275-6A53-9424-13E9-EDB738B09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105B914-D3CF-239C-B60A-DA29285D1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5092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10D70B-ECE8-4548-DCA1-2D3D51054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DD11D8A-F8B5-F07E-8C28-BD7E27E8E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F890C8-E192-9413-A04C-AF73FBE9A0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FBBDD-9558-4802-8A3E-66A2C0A2BB66}" type="datetime1">
              <a:rPr lang="ru-RU" smtClean="0"/>
              <a:t>13.10.2026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482FD1-0430-A04B-58D3-01321D4669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547C9A9-A8A9-77B5-50C8-66103CF77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9655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FD6347-2948-828C-BECF-D54422C54C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2239002"/>
            <a:ext cx="10801350" cy="2047248"/>
          </a:xfrm>
        </p:spPr>
        <p:txBody>
          <a:bodyPr anchor="ctr">
            <a:noAutofit/>
          </a:bodyPr>
          <a:lstStyle/>
          <a:p>
            <a:r>
              <a:rPr lang="ru-RU" sz="4500" dirty="0"/>
              <a:t>Практическая работа №4:</a:t>
            </a:r>
            <a:br>
              <a:rPr lang="ru-RU" sz="4500" dirty="0"/>
            </a:br>
            <a:r>
              <a:rPr lang="ru-RU" sz="4500" b="1" dirty="0"/>
              <a:t>Методы цифровой фильтрации изображений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71C6DBC-CA8F-F90E-3B35-57B4F6F4A0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325" y="4286250"/>
            <a:ext cx="10801349" cy="404478"/>
          </a:xfrm>
        </p:spPr>
        <p:txBody>
          <a:bodyPr anchor="ctr">
            <a:normAutofit lnSpcReduction="10000"/>
          </a:bodyPr>
          <a:lstStyle/>
          <a:p>
            <a:r>
              <a:rPr lang="ru-RU" dirty="0"/>
              <a:t>Вариант №3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F5BA5D-C693-EE1D-CB03-23984F88CBB5}"/>
              </a:ext>
            </a:extLst>
          </p:cNvPr>
          <p:cNvSpPr txBox="1"/>
          <p:nvPr/>
        </p:nvSpPr>
        <p:spPr>
          <a:xfrm>
            <a:off x="8801601" y="5354618"/>
            <a:ext cx="26950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Работу выполнили:</a:t>
            </a:r>
            <a:br>
              <a:rPr lang="ru-RU" sz="1400" dirty="0"/>
            </a:br>
            <a:r>
              <a:rPr lang="ru-RU" sz="1400" dirty="0"/>
              <a:t>студенты 932302 группы</a:t>
            </a:r>
            <a:br>
              <a:rPr lang="ru-RU" sz="1400" dirty="0"/>
            </a:br>
            <a:r>
              <a:rPr lang="ru-RU" sz="1400" dirty="0"/>
              <a:t>Акрамов </a:t>
            </a:r>
            <a:r>
              <a:rPr lang="ru-RU" sz="1400" dirty="0" err="1"/>
              <a:t>Темирлан</a:t>
            </a:r>
            <a:r>
              <a:rPr lang="ru-RU" sz="1400" dirty="0"/>
              <a:t>,</a:t>
            </a:r>
            <a:br>
              <a:rPr lang="ru-RU" sz="1400" dirty="0"/>
            </a:br>
            <a:r>
              <a:rPr lang="ru-RU" sz="1400" dirty="0"/>
              <a:t>Гуров Иван</a:t>
            </a:r>
          </a:p>
        </p:txBody>
      </p:sp>
    </p:spTree>
    <p:extLst>
      <p:ext uri="{BB962C8B-B14F-4D97-AF65-F5344CB8AC3E}">
        <p14:creationId xmlns:p14="http://schemas.microsoft.com/office/powerpoint/2010/main" val="688284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75B349-53B7-2440-E02F-489C9877A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549275"/>
            <a:ext cx="10801350" cy="1276350"/>
          </a:xfrm>
        </p:spPr>
        <p:txBody>
          <a:bodyPr>
            <a:normAutofit/>
          </a:bodyPr>
          <a:lstStyle/>
          <a:p>
            <a:pPr algn="just"/>
            <a:r>
              <a:rPr lang="ru-RU" b="1" dirty="0">
                <a:latin typeface="+mn-lt"/>
              </a:rPr>
              <a:t>Задания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4A078A-D5D7-5B07-C4F8-ADB919DBB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825625"/>
            <a:ext cx="10801350" cy="44831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1. Применить усредняющий фильтр (размеры окон 3×3 и 9×9).</a:t>
            </a:r>
          </a:p>
          <a:p>
            <a:pPr marL="0" indent="0">
              <a:buNone/>
            </a:pPr>
            <a:r>
              <a:rPr lang="ru-RU" dirty="0"/>
              <a:t>2. Сравнить работу медианного и гауссова фильтров на изображении с шумом.</a:t>
            </a:r>
          </a:p>
          <a:p>
            <a:pPr marL="0" indent="0">
              <a:buNone/>
            </a:pPr>
            <a:r>
              <a:rPr lang="ru-RU" dirty="0"/>
              <a:t>3. Построить градиентное изображение по оператору </a:t>
            </a:r>
            <a:r>
              <a:rPr lang="ru-RU" dirty="0" err="1"/>
              <a:t>Собеля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/>
              <a:t>4. Применить гауссов фильтр с большим σ для сильного размытия.</a:t>
            </a:r>
          </a:p>
          <a:p>
            <a:pPr marL="0" indent="0">
              <a:buNone/>
            </a:pPr>
            <a:r>
              <a:rPr lang="ru-RU" dirty="0"/>
              <a:t>5. Реализовать гауссов НЧ-фильтр в частотной области.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A1EA1AE-2C5B-FB9C-5E04-AC6D5FF9E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443168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695325" y="565739"/>
            <a:ext cx="1080135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800" b="1" dirty="0">
                <a:latin typeface="+mj-lt"/>
              </a:rPr>
              <a:t>Подготовка к работе: импорт библиотек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695325" y="1393417"/>
            <a:ext cx="1080135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000" dirty="0"/>
              <a:t>Импортируем необходимые для работы библиотеки </a:t>
            </a:r>
            <a:r>
              <a:rPr lang="en-US" sz="2000" dirty="0" err="1"/>
              <a:t>Numpy</a:t>
            </a:r>
            <a:r>
              <a:rPr lang="en-US" sz="2000" dirty="0"/>
              <a:t>, OpenCV, </a:t>
            </a:r>
            <a:r>
              <a:rPr lang="en-US" sz="2000" dirty="0" err="1"/>
              <a:t>Pyplot</a:t>
            </a:r>
            <a:r>
              <a:rPr lang="en-US" sz="2000" dirty="0"/>
              <a:t> </a:t>
            </a:r>
            <a:r>
              <a:rPr lang="ru-RU" sz="2000" dirty="0"/>
              <a:t>и определяем вспомогательную функцию для отображения картинок на выводе.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3</a:t>
            </a:fld>
            <a:endParaRPr lang="ru-RU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1A1F98C-3CEF-6F79-9C00-43405E49B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2669" y="2616867"/>
            <a:ext cx="2924425" cy="365819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4999659-E2B8-0813-E203-C614BA21F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0304" y="2404130"/>
            <a:ext cx="7531392" cy="3904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254576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695325" y="565739"/>
            <a:ext cx="1080135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800" b="1" dirty="0">
                <a:latin typeface="+mj-lt"/>
              </a:rPr>
              <a:t>Подготовка к работе: импорт библиотек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695325" y="1393417"/>
            <a:ext cx="1080135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000" dirty="0"/>
              <a:t>Импортируем необходимые для работы библиотеки </a:t>
            </a:r>
            <a:r>
              <a:rPr lang="en-US" sz="2000" dirty="0" err="1"/>
              <a:t>Numpy</a:t>
            </a:r>
            <a:r>
              <a:rPr lang="en-US" sz="2000" dirty="0"/>
              <a:t>, OpenCV, </a:t>
            </a:r>
            <a:r>
              <a:rPr lang="en-US" sz="2000" dirty="0" err="1"/>
              <a:t>Pyplot</a:t>
            </a:r>
            <a:r>
              <a:rPr lang="en-US" sz="2000" dirty="0"/>
              <a:t> </a:t>
            </a:r>
            <a:r>
              <a:rPr lang="ru-RU" sz="2000" dirty="0"/>
              <a:t>и определяем вспомогательную функцию для отображения картинок на выводе.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4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4999659-E2B8-0813-E203-C614BA21FC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330304" y="2404130"/>
            <a:ext cx="7531392" cy="390459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1A1F98C-3CEF-6F79-9C00-43405E49BE6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13" t="1562" r="2013" b="1579"/>
          <a:stretch/>
        </p:blipFill>
        <p:spPr>
          <a:xfrm>
            <a:off x="4581147" y="2444011"/>
            <a:ext cx="3029706" cy="3824832"/>
          </a:xfrm>
          <a:prstGeom prst="rect">
            <a:avLst/>
          </a:prstGeom>
          <a:effectLst>
            <a:outerShdw blurRad="254000" dir="5400000" algn="ctr" rotWithShape="0">
              <a:srgbClr val="000000">
                <a:alpha val="6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171355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695325" y="554695"/>
            <a:ext cx="10801350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800" b="1" dirty="0">
                <a:latin typeface="+mj-lt"/>
              </a:rPr>
              <a:t>Задание 1. Применить усредняющий фильтр (размер окон 3х3 и 9х9)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695325" y="1743115"/>
            <a:ext cx="1080135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000" dirty="0"/>
              <a:t>Суть задания: демонстрация того, как увеличение размера окна (с 3×3 до 9×9) пропорционально усиливает степень размытия и потерю мелких деталей.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5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5297370-E083-3B8E-F852-045F41D028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56395" y="2698798"/>
            <a:ext cx="7685324" cy="263481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0D9468C-225F-029B-3EE6-4DDAA7F63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7029" y="5381242"/>
            <a:ext cx="7597942" cy="927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767282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695325" y="554695"/>
            <a:ext cx="10801350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800" b="1" dirty="0">
                <a:latin typeface="+mj-lt"/>
              </a:rPr>
              <a:t>Задание 2. Сравнить работу медианного и гауссова фильтров на изображении с шумом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695325" y="2015792"/>
            <a:ext cx="1080135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000" dirty="0"/>
              <a:t>Суть задания: борьба с импульсным шумом и доказательство того, что нелинейный медианный фильтр полностью удаляет точечные дефекты, а линейный фильтр Гаусса лишь размазывает их.   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6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6B3087A-B667-0F15-61A2-6F498AF22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3315" y="3538445"/>
            <a:ext cx="10685370" cy="27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09792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695325" y="554695"/>
            <a:ext cx="10801350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800" b="1" dirty="0">
                <a:latin typeface="+mj-lt"/>
              </a:rPr>
              <a:t>Задание 2. Сравнить работу медианного и гауссова фильтров на изображении с шумом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695325" y="2015792"/>
            <a:ext cx="1080135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000" dirty="0"/>
              <a:t>Суть задания: борьба с импульсным шумом и доказательство того, что нелинейный медианный фильтр полностью удаляет точечные дефекты, а линейный фильтр Гаусса лишь размазывает их.   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7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6B3087A-B667-0F15-61A2-6F498AF22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3315" y="3538445"/>
            <a:ext cx="10685370" cy="2764860"/>
          </a:xfrm>
          <a:prstGeom prst="rect">
            <a:avLst/>
          </a:prstGeom>
          <a:effectLst>
            <a:softEdge rad="127000"/>
          </a:effectLst>
        </p:spPr>
      </p:pic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8793DF61-FC81-0CA6-E54F-3A157223EF9B}"/>
              </a:ext>
            </a:extLst>
          </p:cNvPr>
          <p:cNvGrpSpPr/>
          <p:nvPr/>
        </p:nvGrpSpPr>
        <p:grpSpPr>
          <a:xfrm>
            <a:off x="2472164" y="3227430"/>
            <a:ext cx="7247672" cy="2961239"/>
            <a:chOff x="2472164" y="3227430"/>
            <a:chExt cx="7247672" cy="2961239"/>
          </a:xfrm>
          <a:effectLst>
            <a:outerShdw blurRad="254000" dir="5400000" algn="tl" rotWithShape="0">
              <a:prstClr val="black">
                <a:alpha val="60000"/>
              </a:prstClr>
            </a:outerShdw>
          </a:effectLst>
        </p:grpSpPr>
        <p:pic>
          <p:nvPicPr>
            <p:cNvPr id="13" name="Рисунок 12">
              <a:extLst>
                <a:ext uri="{FF2B5EF4-FFF2-40B4-BE49-F238E27FC236}">
                  <a16:creationId xmlns:a16="http://schemas.microsoft.com/office/drawing/2014/main" id="{45099B7A-FDED-AF0F-82BD-6BF63DBD7A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530" t="24549"/>
            <a:stretch/>
          </p:blipFill>
          <p:spPr>
            <a:xfrm>
              <a:off x="5313446" y="3227430"/>
              <a:ext cx="1565108" cy="311014"/>
            </a:xfrm>
            <a:prstGeom prst="rect">
              <a:avLst/>
            </a:prstGeom>
          </p:spPr>
        </p:pic>
        <p:pic>
          <p:nvPicPr>
            <p:cNvPr id="14" name="Рисунок 13">
              <a:extLst>
                <a:ext uri="{FF2B5EF4-FFF2-40B4-BE49-F238E27FC236}">
                  <a16:creationId xmlns:a16="http://schemas.microsoft.com/office/drawing/2014/main" id="{78196CC5-1816-86A6-B366-AC3B255836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3692"/>
            <a:stretch/>
          </p:blipFill>
          <p:spPr>
            <a:xfrm>
              <a:off x="2472164" y="3653080"/>
              <a:ext cx="7247672" cy="25355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6448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695325" y="554695"/>
            <a:ext cx="10801350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800" b="1" dirty="0">
                <a:latin typeface="+mj-lt"/>
              </a:rPr>
              <a:t>Задание 3. Построить градиентное изображение по оператору </a:t>
            </a:r>
            <a:r>
              <a:rPr lang="ru-RU" sz="2800" b="1" dirty="0" err="1">
                <a:latin typeface="+mj-lt"/>
              </a:rPr>
              <a:t>Собеля</a:t>
            </a:r>
            <a:endParaRPr lang="ru-RU" sz="2800" b="1" dirty="0">
              <a:latin typeface="+mj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695325" y="1973028"/>
            <a:ext cx="1080135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000" dirty="0"/>
              <a:t>Суть задания: выделение контуров объектов, поиск резких перепадов яркости по горизонтали и вертикали с последующим объединением их в итоговую карту границ изображения.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8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00347E3-6DD3-1B1F-EA04-03835AC97E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5325" y="3452918"/>
            <a:ext cx="10801350" cy="285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474636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695325" y="554695"/>
            <a:ext cx="10801350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800" b="1" dirty="0">
                <a:latin typeface="+mj-lt"/>
              </a:rPr>
              <a:t>Задание 3. Построить градиентное изображение по оператору </a:t>
            </a:r>
            <a:r>
              <a:rPr lang="ru-RU" sz="2800" b="1" dirty="0" err="1">
                <a:latin typeface="+mj-lt"/>
              </a:rPr>
              <a:t>Собеля</a:t>
            </a:r>
            <a:endParaRPr lang="ru-RU" sz="2800" b="1" dirty="0">
              <a:latin typeface="+mj-l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695325" y="1973028"/>
            <a:ext cx="1080135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000" dirty="0"/>
              <a:t>Суть задания: выделение контуров объектов, поиск резких перепадов яркости по горизонтали и вертикали с последующим объединением их в итоговую карту границ изображения.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9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00347E3-6DD3-1B1F-EA04-03835AC97E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5325" y="3452918"/>
            <a:ext cx="10801350" cy="2855806"/>
          </a:xfrm>
          <a:prstGeom prst="rect">
            <a:avLst/>
          </a:prstGeom>
          <a:effectLst>
            <a:softEdge rad="127000"/>
          </a:effectLst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C42392F-D3D1-1C47-DAE2-7834FCBC43E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933" r="1167"/>
          <a:stretch/>
        </p:blipFill>
        <p:spPr>
          <a:xfrm>
            <a:off x="1662258" y="3708568"/>
            <a:ext cx="8867484" cy="2344506"/>
          </a:xfrm>
          <a:prstGeom prst="rect">
            <a:avLst/>
          </a:prstGeom>
          <a:effectLst>
            <a:outerShdw blurRad="508000" dir="5400000" algn="tl" rotWithShape="0">
              <a:prstClr val="black">
                <a:alpha val="8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3651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695325" y="554695"/>
            <a:ext cx="10801350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800" b="1" dirty="0">
                <a:latin typeface="+mj-lt"/>
              </a:rPr>
              <a:t>Задание 4. Применить гауссов фильтр с большим σ для сильного размытия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695325" y="1649251"/>
            <a:ext cx="1080135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000" dirty="0"/>
              <a:t>Суть задания: достижение эффекта сильного, но плавного </a:t>
            </a:r>
            <a:r>
              <a:rPr lang="ru-RU" sz="2000" dirty="0" err="1"/>
              <a:t>расфокуса</a:t>
            </a:r>
            <a:r>
              <a:rPr lang="ru-RU" sz="2000" dirty="0"/>
              <a:t>. Показывает, как параметр стандартного отклонения (σ = 10) напрямую управляет интенсивностью размытия независимо от жестких размеров окна.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10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4DBB0EF-8CCE-D9AD-C91C-FBBFCA4584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2541" y="2805363"/>
            <a:ext cx="7206916" cy="3503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36293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695325" y="554695"/>
            <a:ext cx="10801350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800" b="1" dirty="0">
                <a:latin typeface="+mj-lt"/>
              </a:rPr>
              <a:t>Задание 4. Применить гауссов фильтр с большим σ для сильного размытия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695325" y="1649251"/>
            <a:ext cx="1080135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000" dirty="0"/>
              <a:t>Суть задания: достижение эффекта сильного, но плавного </a:t>
            </a:r>
            <a:r>
              <a:rPr lang="ru-RU" sz="2000" dirty="0" err="1"/>
              <a:t>расфокуса</a:t>
            </a:r>
            <a:r>
              <a:rPr lang="ru-RU" sz="2000" dirty="0"/>
              <a:t>. Показывает, как параметр стандартного отклонения (σ = 10) напрямую управляет интенсивностью размытия независимо от жестких размеров окна.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11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4DBB0EF-8CCE-D9AD-C91C-FBBFCA4584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2541" y="2805363"/>
            <a:ext cx="7206916" cy="3503361"/>
          </a:xfrm>
          <a:prstGeom prst="rect">
            <a:avLst/>
          </a:prstGeom>
          <a:effectLst>
            <a:softEdge rad="127000"/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E690F51-D055-8B75-E0A7-591F31D8D86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282" b="-1"/>
          <a:stretch/>
        </p:blipFill>
        <p:spPr>
          <a:xfrm>
            <a:off x="1246088" y="3955927"/>
            <a:ext cx="9699823" cy="1202233"/>
          </a:xfrm>
          <a:prstGeom prst="rect">
            <a:avLst/>
          </a:prstGeom>
          <a:effectLst>
            <a:outerShdw blurRad="508000" dir="5400000" algn="tl" rotWithShape="0">
              <a:prstClr val="black">
                <a:alpha val="8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8337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695325" y="549275"/>
            <a:ext cx="1080135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800" b="1" dirty="0">
                <a:latin typeface="+mj-lt"/>
              </a:rPr>
              <a:t>Задание 5. Реализовать гауссов НЧ-фильтр в частотной области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695325" y="1315563"/>
            <a:ext cx="1080135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000" dirty="0"/>
              <a:t>Суть задания: сглаживание изображения через преобразование Фурье</a:t>
            </a:r>
            <a:r>
              <a:rPr lang="en-US" sz="2000" dirty="0"/>
              <a:t>;</a:t>
            </a:r>
            <a:r>
              <a:rPr lang="ru-RU" sz="2000" dirty="0"/>
              <a:t> использование плавной гауссовой маски низких частот позволяет подавить мелкие детали и шум без артефактов, характерных для идеального фильтра.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12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B0458B-2944-D608-F74C-B7F0216077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25" y="2574294"/>
            <a:ext cx="10801350" cy="3734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317525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695325" y="549275"/>
            <a:ext cx="1080135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800" b="1" dirty="0">
                <a:latin typeface="+mj-lt"/>
              </a:rPr>
              <a:t>Задание 5. Реализовать гауссов НЧ-фильтр в частотной области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695325" y="1315563"/>
            <a:ext cx="1080135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000" dirty="0"/>
              <a:t>Суть задания: сглаживание изображения через преобразование Фурье</a:t>
            </a:r>
            <a:r>
              <a:rPr lang="en-US" sz="2000" dirty="0"/>
              <a:t>;</a:t>
            </a:r>
            <a:r>
              <a:rPr lang="ru-RU" sz="2000" dirty="0"/>
              <a:t> использование плавной гауссовой маски низких частот позволяет подавить мелкие детали и шум без артефактов, характерных для идеального фильтра.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13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B0458B-2944-D608-F74C-B7F0216077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95325" y="2574294"/>
            <a:ext cx="10801350" cy="3734432"/>
          </a:xfrm>
          <a:prstGeom prst="rect">
            <a:avLst/>
          </a:prstGeom>
          <a:effectLst>
            <a:softEdge rad="127000"/>
          </a:effec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9000EEA-5087-842E-1CAC-F09A1E34E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450" y="2939792"/>
            <a:ext cx="6223100" cy="3093319"/>
          </a:xfrm>
          <a:prstGeom prst="rect">
            <a:avLst/>
          </a:prstGeom>
          <a:effectLst>
            <a:outerShdw blurRad="508000" dir="5400000" algn="tl" rotWithShape="0">
              <a:prstClr val="black">
                <a:alpha val="8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44024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695325" y="549275"/>
            <a:ext cx="1080135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800" b="1" dirty="0">
                <a:latin typeface="+mj-lt"/>
              </a:rPr>
              <a:t>Контрольные вопросы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695325" y="1265150"/>
            <a:ext cx="10801350" cy="489364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1300" b="1" dirty="0"/>
              <a:t>1. Что такое фильтрация изображений и для чего она используется?</a:t>
            </a:r>
          </a:p>
          <a:p>
            <a:pPr algn="just"/>
            <a:r>
              <a:rPr lang="ru-RU" sz="1300" dirty="0"/>
              <a:t>Фильтрация изображений - обработка значений пикселей или частотных составляющих изображения. Она применяется для подавления шумов, сглаживания, повышения резкости и выделения границ.</a:t>
            </a:r>
          </a:p>
          <a:p>
            <a:pPr algn="just"/>
            <a:endParaRPr lang="ru-RU" sz="1300" b="1" dirty="0"/>
          </a:p>
          <a:p>
            <a:pPr algn="just"/>
            <a:r>
              <a:rPr lang="ru-RU" sz="1300" b="1" dirty="0"/>
              <a:t>2. Чем отличается линейная фильтрация от нелинейной?</a:t>
            </a:r>
          </a:p>
          <a:p>
            <a:pPr algn="just"/>
            <a:r>
              <a:rPr lang="ru-RU" sz="1300" dirty="0"/>
              <a:t>При линейной фильтрации значение выходного пикселя получают как взвешенную сумму значений соседних пикселей, в нелинейных фильтрах используются нелинейные операции, например медиана, минимум или максимум.</a:t>
            </a:r>
          </a:p>
          <a:p>
            <a:pPr algn="just"/>
            <a:endParaRPr lang="ru-RU" sz="1300" dirty="0"/>
          </a:p>
          <a:p>
            <a:pPr algn="just"/>
            <a:r>
              <a:rPr lang="ru-RU" sz="1300" b="1" dirty="0"/>
              <a:t>3. Какие виды шумов бывают на изображениях?</a:t>
            </a:r>
          </a:p>
          <a:p>
            <a:pPr algn="just"/>
            <a:r>
              <a:rPr lang="ru-RU" sz="1300" dirty="0"/>
              <a:t>Часто встречаются гауссовский шум и «соль и перец». Также на практике встречаются пуассоновский и </a:t>
            </a:r>
            <a:r>
              <a:rPr lang="ru-RU" sz="1300" dirty="0" err="1"/>
              <a:t>спекл</a:t>
            </a:r>
            <a:r>
              <a:rPr lang="ru-RU" sz="1300" dirty="0"/>
              <a:t>-шум.</a:t>
            </a:r>
          </a:p>
          <a:p>
            <a:pPr algn="just"/>
            <a:endParaRPr lang="ru-RU" sz="1300" dirty="0"/>
          </a:p>
          <a:p>
            <a:pPr algn="just"/>
            <a:r>
              <a:rPr lang="ru-RU" sz="1300" b="1" dirty="0"/>
              <a:t>4. Как размер окна фильтра влияет на результат фильтрации?</a:t>
            </a:r>
          </a:p>
          <a:p>
            <a:pPr algn="just"/>
            <a:r>
              <a:rPr lang="ru-RU" sz="1300" dirty="0"/>
              <a:t>Чем больше окно, тем сильнее сглаживание и подавление шума. Одновременно сильнее размываются границы и теряются мелкие детали.</a:t>
            </a:r>
          </a:p>
          <a:p>
            <a:pPr algn="just"/>
            <a:endParaRPr lang="ru-RU" sz="1300" dirty="0"/>
          </a:p>
          <a:p>
            <a:pPr algn="just"/>
            <a:r>
              <a:rPr lang="ru-RU" sz="1300" b="1" dirty="0"/>
              <a:t>5. В каких случаях предпочтительно использовать пространственную фильтрацию, а в каких - частотную?</a:t>
            </a:r>
          </a:p>
          <a:p>
            <a:pPr algn="just"/>
            <a:r>
              <a:rPr lang="ru-RU" sz="1300" dirty="0"/>
              <a:t>Пространственная фильтрация удобна для локальной обработки пикселей: сглаживания, медианной фильтрации, выделения границ. Частотная фильтрация удобна, когда нужно управлять низкими, высокими или заданным диапазоном пространственных частот. </a:t>
            </a:r>
          </a:p>
          <a:p>
            <a:pPr algn="just"/>
            <a:endParaRPr lang="ru-RU" sz="1300" dirty="0"/>
          </a:p>
          <a:p>
            <a:pPr algn="just"/>
            <a:r>
              <a:rPr lang="ru-RU" sz="1300" b="1" dirty="0"/>
              <a:t>6. В чём принцип работы усредняющего фильтра?</a:t>
            </a:r>
          </a:p>
          <a:p>
            <a:pPr algn="just"/>
            <a:r>
              <a:rPr lang="ru-RU" sz="1300" dirty="0"/>
              <a:t>Каждый пиксель заменяется средним значением пикселей внутри выбранного окна. Это уменьшает шум, но размывает границы.</a:t>
            </a:r>
          </a:p>
          <a:p>
            <a:pPr algn="just"/>
            <a:endParaRPr lang="ru-RU" sz="1300" dirty="0"/>
          </a:p>
          <a:p>
            <a:pPr algn="just"/>
            <a:r>
              <a:rPr lang="ru-RU" sz="1300" b="1" dirty="0"/>
              <a:t>7. Как гауссов фильтр отличается от простого усреднения?</a:t>
            </a:r>
          </a:p>
          <a:p>
            <a:pPr algn="just"/>
            <a:r>
              <a:rPr lang="ru-RU" sz="1300" dirty="0"/>
              <a:t>В усредняющем фильтре все пиксели окна имеют одинаковый вес. В гауссовом фильтре больший вес получают пиксели, расположенные ближе к центру ядра, поэтому размытие получается более плавным.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21048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695325" y="549275"/>
            <a:ext cx="1080135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800" b="1" dirty="0">
                <a:latin typeface="+mj-lt"/>
              </a:rPr>
              <a:t>Контрольные вопросы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695325" y="1167571"/>
            <a:ext cx="10801350" cy="509370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1300" b="1" dirty="0"/>
              <a:t>8. Для какого типа шума эффективен медианный фильтр?</a:t>
            </a:r>
          </a:p>
          <a:p>
            <a:pPr algn="just"/>
            <a:r>
              <a:rPr lang="ru-RU" sz="1300" dirty="0"/>
              <a:t>Медианный фильтр особенно эффективен для импульсного шума «соль и перец».</a:t>
            </a:r>
          </a:p>
          <a:p>
            <a:pPr algn="just"/>
            <a:endParaRPr lang="ru-RU" sz="1300" b="1" dirty="0"/>
          </a:p>
          <a:p>
            <a:pPr algn="just"/>
            <a:r>
              <a:rPr lang="ru-RU" sz="1300" b="1" dirty="0"/>
              <a:t>9. Что делают операторы </a:t>
            </a:r>
            <a:r>
              <a:rPr lang="ru-RU" sz="1300" b="1" dirty="0" err="1"/>
              <a:t>Собеля</a:t>
            </a:r>
            <a:r>
              <a:rPr lang="ru-RU" sz="1300" b="1" dirty="0"/>
              <a:t> и </a:t>
            </a:r>
            <a:r>
              <a:rPr lang="ru-RU" sz="1300" b="1" dirty="0" err="1"/>
              <a:t>Превитта</a:t>
            </a:r>
            <a:r>
              <a:rPr lang="ru-RU" sz="1300" b="1" dirty="0"/>
              <a:t>?</a:t>
            </a:r>
          </a:p>
          <a:p>
            <a:pPr algn="just"/>
            <a:r>
              <a:rPr lang="ru-RU" sz="1300" dirty="0"/>
              <a:t>Они оценивают градиент яркости изображения и используются для выделения границ и контуров.</a:t>
            </a:r>
          </a:p>
          <a:p>
            <a:pPr algn="just"/>
            <a:endParaRPr lang="ru-RU" sz="1300" b="1" dirty="0"/>
          </a:p>
          <a:p>
            <a:pPr algn="just"/>
            <a:r>
              <a:rPr lang="ru-RU" sz="1300" b="1" dirty="0"/>
              <a:t>10. Чем оператор Лапласа отличается от оператора </a:t>
            </a:r>
            <a:r>
              <a:rPr lang="ru-RU" sz="1300" b="1" dirty="0" err="1"/>
              <a:t>Собеля</a:t>
            </a:r>
            <a:r>
              <a:rPr lang="ru-RU" sz="1300" b="1" dirty="0"/>
              <a:t>?</a:t>
            </a:r>
          </a:p>
          <a:p>
            <a:pPr algn="just"/>
            <a:r>
              <a:rPr lang="ru-RU" sz="1300" dirty="0" err="1"/>
              <a:t>Собель</a:t>
            </a:r>
            <a:r>
              <a:rPr lang="ru-RU" sz="1300" dirty="0"/>
              <a:t> оценивает первую производную и позволяет учитывать направление изменения яркости. Лаплас основан на второй производной и реагирует на резкие изменения яркости во всех направлениях, но сильнее усиливает шум.</a:t>
            </a:r>
          </a:p>
          <a:p>
            <a:pPr algn="just"/>
            <a:endParaRPr lang="ru-RU" sz="1300" b="1" dirty="0"/>
          </a:p>
          <a:p>
            <a:pPr algn="just"/>
            <a:r>
              <a:rPr lang="ru-RU" sz="1300" b="1" dirty="0"/>
              <a:t>11. Как реализуется фильтр повышения резкости (</a:t>
            </a:r>
            <a:r>
              <a:rPr lang="ru-RU" sz="1300" b="1" dirty="0" err="1"/>
              <a:t>sharpen</a:t>
            </a:r>
            <a:r>
              <a:rPr lang="ru-RU" sz="1300" b="1" dirty="0"/>
              <a:t>, </a:t>
            </a:r>
            <a:r>
              <a:rPr lang="ru-RU" sz="1300" b="1" dirty="0" err="1"/>
              <a:t>unsharp</a:t>
            </a:r>
            <a:r>
              <a:rPr lang="ru-RU" sz="1300" b="1" dirty="0"/>
              <a:t> </a:t>
            </a:r>
            <a:r>
              <a:rPr lang="ru-RU" sz="1300" b="1" dirty="0" err="1"/>
              <a:t>masking</a:t>
            </a:r>
            <a:r>
              <a:rPr lang="ru-RU" sz="1300" b="1" dirty="0"/>
              <a:t>)?</a:t>
            </a:r>
          </a:p>
          <a:p>
            <a:pPr algn="just"/>
            <a:r>
              <a:rPr lang="ru-RU" sz="1300" dirty="0"/>
              <a:t>Повышение резкости выполняется усилением высокочастотных деталей и границ. В </a:t>
            </a:r>
            <a:r>
              <a:rPr lang="ru-RU" sz="1300" dirty="0" err="1"/>
              <a:t>unsharp</a:t>
            </a:r>
            <a:r>
              <a:rPr lang="ru-RU" sz="1300" dirty="0"/>
              <a:t> </a:t>
            </a:r>
            <a:r>
              <a:rPr lang="ru-RU" sz="1300" dirty="0" err="1"/>
              <a:t>masking</a:t>
            </a:r>
            <a:r>
              <a:rPr lang="ru-RU" sz="1300" dirty="0"/>
              <a:t> сначала получают размытую копию изображения, затем находят разность между исходным и размытым изображением и добавляют эту разность к исходному.</a:t>
            </a:r>
          </a:p>
          <a:p>
            <a:pPr algn="just"/>
            <a:endParaRPr lang="ru-RU" sz="1300" b="1" dirty="0"/>
          </a:p>
          <a:p>
            <a:pPr algn="just"/>
            <a:r>
              <a:rPr lang="ru-RU" sz="1300" b="1" dirty="0"/>
              <a:t>12. Как интерпретировать низкие и высокие частоты изображения?</a:t>
            </a:r>
          </a:p>
          <a:p>
            <a:pPr algn="just"/>
            <a:r>
              <a:rPr lang="ru-RU" sz="1300" dirty="0"/>
              <a:t>Низкие частоты соответствуют плавным изменениям яркости и крупным однородным областям. Высокие частоты соответствуют резким переходам, границам, мелким деталям и шуму.</a:t>
            </a:r>
          </a:p>
          <a:p>
            <a:pPr algn="just"/>
            <a:endParaRPr lang="ru-RU" sz="1300" b="1" dirty="0"/>
          </a:p>
          <a:p>
            <a:pPr algn="just"/>
            <a:r>
              <a:rPr lang="ru-RU" sz="1300" b="1" dirty="0"/>
              <a:t>13. Как выполняется переход от пространственной области к частотной?</a:t>
            </a:r>
          </a:p>
          <a:p>
            <a:pPr algn="just"/>
            <a:r>
              <a:rPr lang="ru-RU" sz="1300" dirty="0"/>
              <a:t>Используется дискретное преобразование Фурье (ДПФ). На практике его обычно вычисляют с помощью быстрого преобразования Фурье (БПФ, FFT).</a:t>
            </a:r>
          </a:p>
          <a:p>
            <a:pPr algn="just"/>
            <a:endParaRPr lang="ru-RU" sz="1300" b="1" dirty="0"/>
          </a:p>
          <a:p>
            <a:pPr algn="just"/>
            <a:r>
              <a:rPr lang="ru-RU" sz="1300" b="1" dirty="0"/>
              <a:t>14. Какие шаги выполняются при фильтрации изображения в частотной области?</a:t>
            </a:r>
          </a:p>
          <a:p>
            <a:pPr algn="just"/>
            <a:r>
              <a:rPr lang="ru-RU" sz="1300" dirty="0"/>
              <a:t>Сначала вычисляют преобразование Фурье, затем спектр умножают на маску выбранного фильтра. После этого выполняют обратное преобразование Фурье и получают отфильтрованное изображение.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2157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695325" y="549275"/>
            <a:ext cx="1080135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2800" b="1" dirty="0">
                <a:latin typeface="+mj-lt"/>
              </a:rPr>
              <a:t>Контрольные вопросы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695325" y="1367626"/>
            <a:ext cx="10801350" cy="469359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sz="1300" b="1" dirty="0"/>
              <a:t>15. Чем отличается идеальный низкочастотный фильтр от гауссова НЧ-фильтра?</a:t>
            </a:r>
          </a:p>
          <a:p>
            <a:pPr algn="just"/>
            <a:r>
              <a:rPr lang="ru-RU" sz="1300" dirty="0"/>
              <a:t>Идеальный НЧ-фильтр имеет резкую границу между пропускаемыми и подавляемыми частотами. Гауссов НЧ-фильтр изменяет коэффициенты плавно, поэтому обычно не создаёт выраженного «звона».</a:t>
            </a:r>
          </a:p>
          <a:p>
            <a:pPr algn="just"/>
            <a:endParaRPr lang="ru-RU" sz="1300" b="1" dirty="0"/>
          </a:p>
          <a:p>
            <a:pPr algn="just"/>
            <a:r>
              <a:rPr lang="ru-RU" sz="1300" b="1" dirty="0"/>
              <a:t>16. Какие артефакты могут возникнуть при использовании идеального НЧ-фильтра?</a:t>
            </a:r>
          </a:p>
          <a:p>
            <a:pPr algn="just"/>
            <a:r>
              <a:rPr lang="ru-RU" sz="1300" dirty="0"/>
              <a:t>Из-за резкого обрезания частот могут появляться колебания около границ объектов - артефакт «звон».</a:t>
            </a:r>
          </a:p>
          <a:p>
            <a:pPr algn="just"/>
            <a:endParaRPr lang="ru-RU" sz="1300" b="1" dirty="0"/>
          </a:p>
          <a:p>
            <a:pPr algn="just"/>
            <a:r>
              <a:rPr lang="ru-RU" sz="1300" b="1" dirty="0"/>
              <a:t>17. Как работает высокочастотный фильтр и для чего он применяется?</a:t>
            </a:r>
          </a:p>
          <a:p>
            <a:pPr algn="just"/>
            <a:r>
              <a:rPr lang="ru-RU" sz="1300" dirty="0"/>
              <a:t>Он подавляет низкие частоты и оставляет высокие. Это используется для выделения и усиления границ и мелких деталей. Недостаток — вместе с деталями может усиливаться шум.</a:t>
            </a:r>
          </a:p>
          <a:p>
            <a:pPr algn="just"/>
            <a:endParaRPr lang="ru-RU" sz="1300" b="1" dirty="0"/>
          </a:p>
          <a:p>
            <a:pPr algn="just"/>
            <a:r>
              <a:rPr lang="ru-RU" sz="1300" b="1" dirty="0"/>
              <a:t>18. Что такое полосовой фильтр (BPF) и где он может использоваться?</a:t>
            </a:r>
          </a:p>
          <a:p>
            <a:pPr algn="just"/>
            <a:r>
              <a:rPr lang="ru-RU" sz="1300" dirty="0"/>
              <a:t>Полосовой фильтр пропускает только заданный диапазон частот и подавляет остальные. Он может применяться для выделения определённых текстур или структур изображения.</a:t>
            </a:r>
          </a:p>
          <a:p>
            <a:pPr algn="just"/>
            <a:endParaRPr lang="ru-RU" sz="1300" b="1" dirty="0"/>
          </a:p>
          <a:p>
            <a:pPr algn="just"/>
            <a:r>
              <a:rPr lang="ru-RU" sz="1300" b="1" dirty="0"/>
              <a:t>19. Какие преимущества даёт частотная фильтрация по сравнению с пространственной?</a:t>
            </a:r>
          </a:p>
          <a:p>
            <a:pPr algn="just"/>
            <a:r>
              <a:rPr lang="ru-RU" sz="1300" dirty="0"/>
              <a:t>Она позволяет непосредственно управлять частотными составляющими изображения: удалять низкие или высокие частоты, оставлять выбранный диапазон, а также удобно работать с периодическими компонентами и большими фильтрами.</a:t>
            </a:r>
          </a:p>
          <a:p>
            <a:pPr algn="just"/>
            <a:endParaRPr lang="ru-RU" sz="1300" b="1" dirty="0"/>
          </a:p>
          <a:p>
            <a:pPr algn="just"/>
            <a:r>
              <a:rPr lang="ru-RU" sz="1300" b="1" dirty="0"/>
              <a:t>20. Почему фильтрация через БПФ может быть более эффективной при больших ядрах свёртки?</a:t>
            </a:r>
          </a:p>
          <a:p>
            <a:pPr algn="just"/>
            <a:r>
              <a:rPr lang="ru-RU" sz="1300" dirty="0"/>
              <a:t>Согласно теореме о свёртке, свёртке в пространственной области соответствует умножение спектров в частотной области. Для больших ядер вычислить БПФ, выполнить поэлементное умножение и обратное БПФ часто быстрее, чем выполнять большое число операций свёртки непосредственно для каждого пикселя.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065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6E0652-C363-06DA-A12C-453394A05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2858293"/>
            <a:ext cx="10801349" cy="1141413"/>
          </a:xfrm>
        </p:spPr>
        <p:txBody>
          <a:bodyPr/>
          <a:lstStyle/>
          <a:p>
            <a:pPr algn="ctr"/>
            <a:r>
              <a:rPr lang="ru-RU" b="1" dirty="0"/>
              <a:t>Спасибо за внимание!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20CA38D-6AB6-8BDB-808C-C23C15E87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9215195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</TotalTime>
  <Words>1231</Words>
  <Application>Microsoft Office PowerPoint</Application>
  <PresentationFormat>Широкоэкранный</PresentationFormat>
  <Paragraphs>108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Тема Office</vt:lpstr>
      <vt:lpstr>Практическая работа №4: Методы цифровой фильтрации изображений</vt:lpstr>
      <vt:lpstr>Задания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Temirlan Akramov</dc:creator>
  <cp:lastModifiedBy>Temirlan Akramov</cp:lastModifiedBy>
  <cp:revision>13</cp:revision>
  <dcterms:created xsi:type="dcterms:W3CDTF">2026-09-16T15:58:33Z</dcterms:created>
  <dcterms:modified xsi:type="dcterms:W3CDTF">2026-10-13T13:26:45Z</dcterms:modified>
</cp:coreProperties>
</file>