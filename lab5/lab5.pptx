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85" r:id="rId3"/>
    <p:sldId id="291" r:id="rId4"/>
    <p:sldId id="305" r:id="rId5"/>
    <p:sldId id="284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02" r:id="rId16"/>
    <p:sldId id="275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 userDrawn="1">
          <p15:clr>
            <a:srgbClr val="A4A3A4"/>
          </p15:clr>
        </p15:guide>
        <p15:guide id="2" orient="horz" pos="4201" userDrawn="1">
          <p15:clr>
            <a:srgbClr val="A4A3A4"/>
          </p15:clr>
        </p15:guide>
        <p15:guide id="3" pos="98" userDrawn="1">
          <p15:clr>
            <a:srgbClr val="A4A3A4"/>
          </p15:clr>
        </p15:guide>
        <p15:guide id="4" pos="7582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32" y="546"/>
      </p:cViewPr>
      <p:guideLst>
        <p:guide orient="horz" pos="119"/>
        <p:guide orient="horz" pos="4201"/>
        <p:guide pos="98"/>
        <p:guide pos="758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8FABF-92EB-4A28-9D96-EEEDC3A31D40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C420-320D-43F3-8A1E-7EA6D07B5A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08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4CA74-5891-0962-7F34-2D269883B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64628B-ACFC-48BD-994A-A45DD3715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AB6A32-3498-D97F-C566-BFD3B9D0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EE1F-2934-495D-856C-8D902092E890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6321E8-D9B6-367F-E84E-51DDB4F6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59484B-4F4B-27E6-B99D-C697E130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25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D697F-B881-D447-A8A1-3653B7B0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53F89-90BF-2629-502D-5931D406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6EA5B8-4726-9188-6115-B89106A1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DE2A-647D-4500-9D2E-502AC02C4614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00C1B-CF92-0371-90DB-79F8D564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90595D-A75F-CAB5-AE90-E3E07EB4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38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A941C-ACAE-B768-7847-E6775439C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1B2D38-00F6-3DFA-E503-F0C09CEAA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EFF993-96BC-9FC1-91ED-92777C56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44451-672F-45F1-88E4-8B4F5094B741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EF5120-F671-1C1E-3C47-E98D2E58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00AE5C-F751-1159-5464-822147EB9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50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89D2C-3651-CAFC-EF50-E83DF2ED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247EC4-6DE9-B843-CAF2-ECE6808F6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7E96C9-AD9C-F0F3-2E8C-448EA93C8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1F51A0-F82C-0F42-DA6A-C48D9844F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6CC5-59D3-433C-92EF-64C02CE878DA}" type="datetime1">
              <a:rPr lang="ru-RU" smtClean="0"/>
              <a:t>29.10.2026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83A810-3FD3-3810-80CA-B4428307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F73FCE-213E-6581-2041-1B43E3B9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67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E52D6-1E2A-DE3E-2D07-2E3639A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30DD91-D018-EAF1-500D-F8F9F4BF3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A85A0B-BEBB-9177-5351-7804EF964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1C7659-04A4-F62B-7725-6100AA605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367E88D-9109-7F25-8154-BFA444625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6E328C5-8E0E-C1ED-C124-4D6E5885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5CA7-9EF3-40A2-95F2-8EF16B26BE6A}" type="datetime1">
              <a:rPr lang="ru-RU" smtClean="0"/>
              <a:t>29.10.2026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485F774-367D-382E-36A4-B02393AB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2816B7-62C6-5A7E-6221-A1C3BFAD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821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92608-AD05-9047-97D8-E93C65FF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8238BA-2101-77D5-A4A4-FC7194BAF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9540-2548-477D-A6DA-EDB84F67A50B}" type="datetime1">
              <a:rPr lang="ru-RU" smtClean="0"/>
              <a:t>29.10.2026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BF0DD2-0F4D-22FB-9506-1208C7DD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478D59-A710-67CE-9B76-A263D4B0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25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8E2444-CD58-EA1B-B50E-CE11C519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C029-194E-49EB-BA02-35756DA27575}" type="datetime1">
              <a:rPr lang="ru-RU" smtClean="0"/>
              <a:t>29.10.2026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10BB43-416E-C502-0F45-D775BEC01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7ECDD-7BAF-97B9-6CBB-FC6C011F4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10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987DC-2CF0-A417-54B2-EB45847C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BB83F4-BB96-ABA4-D745-BFF31E9D1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903BE5-A6FD-B9F1-B587-54F7D6F79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0B34B-03D1-CB35-F9AE-9676E7561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CD5A-8A32-448E-8FB6-21BB2461D800}" type="datetime1">
              <a:rPr lang="ru-RU" smtClean="0"/>
              <a:t>29.10.2026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EEDB42-EF94-B74D-FFE7-AEEBCE66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CE31A8-9A03-2ECD-356B-105A2DC5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00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275C9-7E70-5004-7B95-36350E0F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2B57CA-452A-2A34-7E96-F835183AF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A32018-C8DE-2E14-570A-477764094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5C992C-AA87-E56F-BF8D-ACB7934F4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9BF4E-BA3A-41CB-9559-EB408650D4F0}" type="datetime1">
              <a:rPr lang="ru-RU" smtClean="0"/>
              <a:t>29.10.2026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00FC96-E622-5106-A5AE-813FA528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53811D-1610-9287-2708-3EC0E481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30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11837-011F-931C-53F9-AC857C4D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E5D3AE-FF19-7B37-DAA8-952CF5644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72F4D5-4F29-AAA2-D0B8-ED332AE1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7BD34-D32B-4D72-9CBA-4E8D578FEEE7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FCD33D-1639-1C28-89A1-B4CD7995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0FF268-F5B4-B806-9A84-E613BB98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01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6B3C08-346F-3C81-D7C3-470FD0CC6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13B125-F7C1-BA50-74E5-9532D7DB4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94640D-C2A1-81D1-B46A-EC3CD65D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85BE-6B8F-41F3-A0F2-64C4E49B1807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06C275-6A53-9424-13E9-EDB738B0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05B914-D3CF-239C-B60A-DA29285D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09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0D70B-ECE8-4548-DCA1-2D3D5105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D11D8A-F8B5-F07E-8C28-BD7E27E8E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F890C8-E192-9413-A04C-AF73FBE9A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FBBDD-9558-4802-8A3E-66A2C0A2BB66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82FD1-0430-A04B-58D3-01321D466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47C9A9-A8A9-77B5-50C8-66103CF77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65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D6347-2948-828C-BECF-D54422C54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2239002"/>
            <a:ext cx="10801350" cy="2047248"/>
          </a:xfrm>
        </p:spPr>
        <p:txBody>
          <a:bodyPr anchor="ctr">
            <a:noAutofit/>
          </a:bodyPr>
          <a:lstStyle/>
          <a:p>
            <a:r>
              <a:rPr lang="ru-RU" sz="4500" dirty="0"/>
              <a:t>Практическая работа №</a:t>
            </a:r>
            <a:r>
              <a:rPr lang="en-US" sz="4500" dirty="0"/>
              <a:t>5</a:t>
            </a:r>
            <a:r>
              <a:rPr lang="ru-RU" sz="4500" dirty="0"/>
              <a:t>:</a:t>
            </a:r>
            <a:br>
              <a:rPr lang="ru-RU" sz="4500" dirty="0"/>
            </a:br>
            <a:r>
              <a:rPr lang="ru-RU" sz="4500" b="1" dirty="0"/>
              <a:t>Поиск ключевых точек и сопоставление изображений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1C6DBC-CA8F-F90E-3B35-57B4F6F4A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325" y="4286250"/>
            <a:ext cx="10801349" cy="404478"/>
          </a:xfrm>
        </p:spPr>
        <p:txBody>
          <a:bodyPr anchor="ctr">
            <a:normAutofit lnSpcReduction="10000"/>
          </a:bodyPr>
          <a:lstStyle/>
          <a:p>
            <a:r>
              <a:rPr lang="ru-RU" dirty="0"/>
              <a:t>Вариант №3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5BA5D-C693-EE1D-CB03-23984F88CBB5}"/>
              </a:ext>
            </a:extLst>
          </p:cNvPr>
          <p:cNvSpPr txBox="1"/>
          <p:nvPr/>
        </p:nvSpPr>
        <p:spPr>
          <a:xfrm>
            <a:off x="9341351" y="5714981"/>
            <a:ext cx="26950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Работу выполнили:</a:t>
            </a:r>
            <a:br>
              <a:rPr lang="ru-RU" sz="1400" dirty="0"/>
            </a:br>
            <a:r>
              <a:rPr lang="ru-RU" sz="1400" dirty="0"/>
              <a:t>студенты 932302 группы</a:t>
            </a:r>
            <a:br>
              <a:rPr lang="ru-RU" sz="1400" dirty="0"/>
            </a:br>
            <a:r>
              <a:rPr lang="ru-RU" sz="1400" dirty="0"/>
              <a:t>Акрамов </a:t>
            </a:r>
            <a:r>
              <a:rPr lang="ru-RU" sz="1400" dirty="0" err="1"/>
              <a:t>Темирлан</a:t>
            </a:r>
            <a:r>
              <a:rPr lang="ru-RU" sz="1400" dirty="0"/>
              <a:t>,</a:t>
            </a:r>
            <a:br>
              <a:rPr lang="ru-RU" sz="1400" dirty="0"/>
            </a:br>
            <a:r>
              <a:rPr lang="ru-RU" sz="1400" dirty="0"/>
              <a:t>Гуров Иван</a:t>
            </a:r>
          </a:p>
        </p:txBody>
      </p:sp>
    </p:spTree>
    <p:extLst>
      <p:ext uri="{BB962C8B-B14F-4D97-AF65-F5344CB8AC3E}">
        <p14:creationId xmlns:p14="http://schemas.microsoft.com/office/powerpoint/2010/main" val="68828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5B349-53B7-2440-E02F-489C9877A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188913"/>
            <a:ext cx="11880850" cy="1244102"/>
          </a:xfrm>
        </p:spPr>
        <p:txBody>
          <a:bodyPr>
            <a:normAutofit/>
          </a:bodyPr>
          <a:lstStyle/>
          <a:p>
            <a:pPr algn="just"/>
            <a:r>
              <a:rPr lang="ru-RU" b="1" dirty="0">
                <a:latin typeface="+mn-lt"/>
              </a:rPr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4A078A-D5D7-5B07-C4F8-ADB919DBB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74" y="1433014"/>
            <a:ext cx="11880849" cy="52360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dirty="0"/>
              <a:t>1. Загрузите два изображения (логотип компании в чистом виде и</a:t>
            </a:r>
            <a:r>
              <a:rPr lang="en-US" dirty="0"/>
              <a:t> </a:t>
            </a:r>
            <a:r>
              <a:rPr lang="ru-RU" dirty="0"/>
              <a:t>на фото</a:t>
            </a:r>
            <a:r>
              <a:rPr lang="en-US" dirty="0"/>
              <a:t> </a:t>
            </a:r>
            <a:r>
              <a:rPr lang="ru-RU" dirty="0"/>
              <a:t>документа).</a:t>
            </a:r>
          </a:p>
          <a:p>
            <a:pPr marL="0" indent="0">
              <a:buNone/>
            </a:pPr>
            <a:r>
              <a:rPr lang="ru-RU" dirty="0"/>
              <a:t>2. Используйте SIFT для нахождения ключевых точек.</a:t>
            </a:r>
          </a:p>
          <a:p>
            <a:pPr marL="0" indent="0">
              <a:buNone/>
            </a:pPr>
            <a:r>
              <a:rPr lang="ru-RU" dirty="0"/>
              <a:t>3. Примените </a:t>
            </a:r>
            <a:r>
              <a:rPr lang="ru-RU" dirty="0" err="1"/>
              <a:t>BFMatcher</a:t>
            </a:r>
            <a:r>
              <a:rPr lang="ru-RU" dirty="0"/>
              <a:t> для сопоставления и выделите лучшие</a:t>
            </a:r>
            <a:r>
              <a:rPr lang="en-US" dirty="0"/>
              <a:t> </a:t>
            </a:r>
            <a:r>
              <a:rPr lang="ru-RU" dirty="0"/>
              <a:t>совпадения.</a:t>
            </a:r>
          </a:p>
          <a:p>
            <a:pPr marL="0" indent="0">
              <a:buNone/>
            </a:pPr>
            <a:r>
              <a:rPr lang="ru-RU" dirty="0"/>
              <a:t>4. Примените фильтрацию по Лоу и сравните количество</a:t>
            </a:r>
            <a:r>
              <a:rPr lang="en-US" dirty="0"/>
              <a:t> </a:t>
            </a:r>
            <a:r>
              <a:rPr lang="ru-RU" dirty="0"/>
              <a:t>совпадений</a:t>
            </a:r>
            <a:r>
              <a:rPr lang="en-US" dirty="0"/>
              <a:t> </a:t>
            </a:r>
            <a:r>
              <a:rPr lang="ru-RU" dirty="0"/>
              <a:t>до и</a:t>
            </a:r>
            <a:r>
              <a:rPr lang="en-US" dirty="0"/>
              <a:t> </a:t>
            </a:r>
            <a:r>
              <a:rPr lang="ru-RU" dirty="0"/>
              <a:t>после.</a:t>
            </a:r>
          </a:p>
          <a:p>
            <a:pPr marL="0" indent="0">
              <a:buNone/>
            </a:pPr>
            <a:r>
              <a:rPr lang="ru-RU" dirty="0"/>
              <a:t>5. Сделайте вывод: можно ли автоматически находить логотипы</a:t>
            </a:r>
            <a:r>
              <a:rPr lang="en-US" dirty="0"/>
              <a:t> </a:t>
            </a:r>
            <a:r>
              <a:rPr lang="ru-RU" dirty="0"/>
              <a:t>на</a:t>
            </a:r>
            <a:r>
              <a:rPr lang="en-US" dirty="0"/>
              <a:t> </a:t>
            </a:r>
            <a:r>
              <a:rPr lang="ru-RU" dirty="0"/>
              <a:t>документах.</a:t>
            </a:r>
          </a:p>
        </p:txBody>
      </p:sp>
    </p:spTree>
    <p:extLst>
      <p:ext uri="{BB962C8B-B14F-4D97-AF65-F5344CB8AC3E}">
        <p14:creationId xmlns:p14="http://schemas.microsoft.com/office/powerpoint/2010/main" val="95443168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4" y="200405"/>
            <a:ext cx="118808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Подготовка к работе: импорт библиотек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4" y="1171767"/>
            <a:ext cx="1188084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Импортируем необходимые для работы библиотеки и определяем вспомогательную функцию для отображения картинок на выводе.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D89E72-7F34-B9B3-82DD-D5A54AD5A3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1"/>
          <a:stretch/>
        </p:blipFill>
        <p:spPr>
          <a:xfrm>
            <a:off x="2258090" y="2327795"/>
            <a:ext cx="7675819" cy="432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5457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5" y="205376"/>
            <a:ext cx="118808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Подготовка к работе: импорт библиотек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5" y="1177751"/>
            <a:ext cx="1188085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Импортируем необходимые для работы библиотеки и определяем вспомогательную функцию для отображения картинок на выводе.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D89E72-7F34-B9B3-82DD-D5A54AD5A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rcRect l="2431"/>
          <a:stretch/>
        </p:blipFill>
        <p:spPr>
          <a:xfrm>
            <a:off x="2258089" y="2339288"/>
            <a:ext cx="7675819" cy="43298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705BCC-0DFB-24FD-9886-DD2E3BC0C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664" y="2516020"/>
            <a:ext cx="4282668" cy="3976335"/>
          </a:xfrm>
          <a:prstGeom prst="rect">
            <a:avLst/>
          </a:prstGeom>
          <a:effectLst>
            <a:outerShdw blurRad="254000" dir="5400000" algn="ctr" rotWithShape="0">
              <a:prstClr val="black">
                <a:alpha val="6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6070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4" y="188913"/>
            <a:ext cx="118808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1. Загрузка и подготовка изображений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3" y="1276096"/>
            <a:ext cx="1188084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импорт логотипа и документа с последующим переводом их в градации серого. Это необходимый этап подготовки данных, так как алгоритмы поиска признаков работают с интенсивностью (яркостью) пикселей.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8A6080-9424-DFD9-97DF-85D487A512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1"/>
          <a:stretch/>
        </p:blipFill>
        <p:spPr>
          <a:xfrm>
            <a:off x="2724575" y="2855723"/>
            <a:ext cx="6742847" cy="380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6728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5" y="188913"/>
            <a:ext cx="118808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1. Загрузка и подготовка изображений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5" y="1276580"/>
            <a:ext cx="118808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импорт логотипа и документа с последующим переводом их в градации серого. Это необходимый этап подготовки данных, так как алгоритмы поиска признаков работают с интенсивностью (яркостью) пикселей.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8A6080-9424-DFD9-97DF-85D487A51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rcRect l="2511"/>
          <a:stretch/>
        </p:blipFill>
        <p:spPr>
          <a:xfrm>
            <a:off x="2724574" y="2856691"/>
            <a:ext cx="6742847" cy="380669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CE8F61-4003-0CF9-4A40-9C8CACA32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862" y="3962033"/>
            <a:ext cx="8698269" cy="1596012"/>
          </a:xfrm>
          <a:prstGeom prst="rect">
            <a:avLst/>
          </a:prstGeom>
          <a:effectLst>
            <a:outerShdw blurRad="254000" dir="5400000" algn="ctr" rotWithShape="0">
              <a:srgbClr val="000000">
                <a:alpha val="6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050435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5" y="188913"/>
            <a:ext cx="118808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2. Используйте SIFT для нахождения ключевых точек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3" y="992532"/>
            <a:ext cx="1188085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выявление уникальных, устойчивых к масштабированию и повороту особенностей на изображениях с помощью алгоритма SIFT. Вычисление дескрипторов (числовых векторов) для каждой найденной ключевой точки.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B99ED5-DBC3-4457-1BF3-F5942DF79F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3"/>
          <a:stretch/>
        </p:blipFill>
        <p:spPr>
          <a:xfrm>
            <a:off x="1923269" y="2288595"/>
            <a:ext cx="8345461" cy="438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7762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EC613B6-116C-072C-CE57-D12B752C3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rcRect l="2003"/>
          <a:stretch/>
        </p:blipFill>
        <p:spPr>
          <a:xfrm>
            <a:off x="1923269" y="2288595"/>
            <a:ext cx="8345461" cy="43804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1" y="188913"/>
            <a:ext cx="118808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2. Используйте SIFT для нахождения ключевых точек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9" y="992532"/>
            <a:ext cx="11880846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выявление уникальных, устойчивых к масштабированию и повороту особенностей на изображениях с помощью алгоритма SIFT. Вычисление дескрипторов (числовых векторов) для каждой найденной ключевой точки.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5EC769-3D22-91E4-1129-F9AA63033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927" y="3473909"/>
            <a:ext cx="7942145" cy="2686849"/>
          </a:xfrm>
          <a:prstGeom prst="rect">
            <a:avLst/>
          </a:prstGeom>
          <a:effectLst>
            <a:outerShdw blurRad="254000" dir="5400000" algn="ctr" rotWithShape="0">
              <a:srgbClr val="000000">
                <a:alpha val="60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027771-3542-2314-6C77-C5587B003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4319" y="2587871"/>
            <a:ext cx="3223361" cy="667180"/>
          </a:xfrm>
          <a:prstGeom prst="rect">
            <a:avLst/>
          </a:prstGeom>
          <a:effectLst>
            <a:outerShdw blurRad="254000" dir="5400000" algn="ctr" rotWithShape="0">
              <a:srgbClr val="000000">
                <a:alpha val="6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140660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5" y="188913"/>
            <a:ext cx="118808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3. Примените </a:t>
            </a:r>
            <a:r>
              <a:rPr lang="ru-RU" sz="2800" b="1" dirty="0" err="1">
                <a:latin typeface="+mj-lt"/>
              </a:rPr>
              <a:t>BFMatcher</a:t>
            </a:r>
            <a:r>
              <a:rPr lang="ru-RU" sz="2800" b="1" dirty="0">
                <a:latin typeface="+mj-lt"/>
              </a:rPr>
              <a:t> для сопоставления и выделите лучшие совпадения.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5" y="1143020"/>
            <a:ext cx="1188085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перебор дескрипторов двух фото для поиска наиболее похожих пар. Оценка сходства вычисляется поиском минимального евклидова расстояния между векторами.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574E0B-EC3C-C0A7-1C8E-82D290A522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5" r="1390" b="1602"/>
          <a:stretch/>
        </p:blipFill>
        <p:spPr>
          <a:xfrm>
            <a:off x="3422548" y="1850906"/>
            <a:ext cx="5346904" cy="48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7926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5" y="188913"/>
            <a:ext cx="118808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3. Примените </a:t>
            </a:r>
            <a:r>
              <a:rPr lang="ru-RU" sz="2800" b="1" dirty="0" err="1">
                <a:latin typeface="+mj-lt"/>
              </a:rPr>
              <a:t>BFMatcher</a:t>
            </a:r>
            <a:r>
              <a:rPr lang="ru-RU" sz="2800" b="1" dirty="0">
                <a:latin typeface="+mj-lt"/>
              </a:rPr>
              <a:t> для сопоставления и выделите лучшие совпадения.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5" y="1143020"/>
            <a:ext cx="1188085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перебор дескрипторов двух фото для поиска наиболее похожих пар. Оценка сходства вычисляется поиском минимального евклидова расстояния между векторами.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574E0B-EC3C-C0A7-1C8E-82D290A52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rcRect l="1265" r="1390" b="1602"/>
          <a:stretch/>
        </p:blipFill>
        <p:spPr>
          <a:xfrm>
            <a:off x="3422548" y="1850906"/>
            <a:ext cx="5346904" cy="4818181"/>
          </a:xfrm>
          <a:prstGeom prst="rect">
            <a:avLst/>
          </a:prstGeom>
          <a:effectLst>
            <a:softEdge rad="0"/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543041-3704-9182-7E98-296B1B623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378" y="2283527"/>
            <a:ext cx="3877244" cy="876893"/>
          </a:xfrm>
          <a:prstGeom prst="rect">
            <a:avLst/>
          </a:prstGeom>
          <a:effectLst>
            <a:outerShdw blurRad="254000" dir="5400000" algn="ctr" rotWithShape="0">
              <a:srgbClr val="000000">
                <a:alpha val="60000"/>
              </a:srgbClr>
            </a:outerShdw>
          </a:effec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631CA69-EB95-4F53-512B-5AF0A3AE7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945" y="3340746"/>
            <a:ext cx="7638109" cy="2895719"/>
          </a:xfrm>
          <a:prstGeom prst="rect">
            <a:avLst/>
          </a:prstGeom>
          <a:effectLst>
            <a:outerShdw blurRad="254000" dir="5400000" algn="ctr" rotWithShape="0">
              <a:srgbClr val="000000">
                <a:alpha val="6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0371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5" y="188913"/>
            <a:ext cx="118808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4. Примените фильтрацию по Лоу и сравните количество совпадений до и после.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5" y="1143020"/>
            <a:ext cx="1188085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удаление шумовых и неоднозначных сопоставлений с использованием критерия Лоу. Он оставляет только самые уверенные и точные пары точек, отсеивая визуальный мусор.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023FA4-08C5-AB7B-DFB6-9BBE083957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6" r="1204" b="1503"/>
          <a:stretch/>
        </p:blipFill>
        <p:spPr>
          <a:xfrm>
            <a:off x="3427847" y="1850906"/>
            <a:ext cx="5359963" cy="48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77857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5" y="188913"/>
            <a:ext cx="118808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4. Примените фильтрацию по Лоу и сравните количество совпадений до и после.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5" y="1143020"/>
            <a:ext cx="1188085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удаление шумовых и неоднозначных сопоставлений с использованием критерия Лоу. Он оставляет только самые уверенные и точные пары точек, отсеивая визуальный мусор.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023FA4-08C5-AB7B-DFB6-9BBE08395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rcRect l="1116" r="1204" b="1503"/>
          <a:stretch/>
        </p:blipFill>
        <p:spPr>
          <a:xfrm>
            <a:off x="3427847" y="1850906"/>
            <a:ext cx="5359963" cy="481818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70959BE-047F-CB23-EAE2-C17FECAC4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838" y="2926303"/>
            <a:ext cx="5240323" cy="3563700"/>
          </a:xfrm>
          <a:prstGeom prst="rect">
            <a:avLst/>
          </a:prstGeom>
          <a:effectLst>
            <a:outerShdw blurRad="254000" dist="50800" dir="5400000" algn="ctr" rotWithShape="0">
              <a:srgbClr val="000000">
                <a:alpha val="60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D7F57A5-8DFA-2170-2119-744D037DC2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3343" y="2024485"/>
            <a:ext cx="4005314" cy="728239"/>
          </a:xfrm>
          <a:prstGeom prst="rect">
            <a:avLst/>
          </a:prstGeom>
          <a:effectLst>
            <a:outerShdw blurRad="254000" dir="5400000" algn="ctr" rotWithShape="0">
              <a:srgbClr val="000000">
                <a:alpha val="6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731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5" y="188913"/>
            <a:ext cx="118808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5. Сделайте вывод: можно ли автоматически находить логотипы на документах.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5" y="1143020"/>
            <a:ext cx="118808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пространственное вычисление положения логотипа с помощью </a:t>
            </a:r>
            <a:r>
              <a:rPr lang="en-US" sz="2000" dirty="0"/>
              <a:t>RANSAC</a:t>
            </a:r>
            <a:r>
              <a:rPr lang="ru-RU" sz="2000" dirty="0"/>
              <a:t> на документе как доказательство возможности.</a:t>
            </a:r>
          </a:p>
          <a:p>
            <a:pPr algn="ctr"/>
            <a:r>
              <a:rPr lang="ru-RU" sz="2000" dirty="0"/>
              <a:t>Вывод: автоматический поиск реализуем.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647A4B-EDA0-52ED-E3C5-D3AAD71812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6" r="1187" b="1991"/>
          <a:stretch/>
        </p:blipFill>
        <p:spPr>
          <a:xfrm>
            <a:off x="3565070" y="2156964"/>
            <a:ext cx="5061859" cy="451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0640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5" y="188913"/>
            <a:ext cx="11880850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Задание 5. Сделайте вывод: можно ли автоматически находить логотипы на документах.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5" y="1143020"/>
            <a:ext cx="118808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dirty="0"/>
              <a:t>Суть задания: пространственное вычисление положения логотипа с помощью </a:t>
            </a:r>
            <a:r>
              <a:rPr lang="en-US" sz="2000" dirty="0"/>
              <a:t>RANSAC</a:t>
            </a:r>
            <a:r>
              <a:rPr lang="ru-RU" sz="2000" dirty="0"/>
              <a:t> на документе как доказательство возможности.</a:t>
            </a:r>
          </a:p>
          <a:p>
            <a:pPr algn="ctr"/>
            <a:r>
              <a:rPr lang="ru-RU" sz="2000" dirty="0"/>
              <a:t>Вывод: автоматический поиск реализуем.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647A4B-EDA0-52ED-E3C5-D3AAD7181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rcRect l="1216" r="1187" b="1991"/>
          <a:stretch/>
        </p:blipFill>
        <p:spPr>
          <a:xfrm>
            <a:off x="3565070" y="2156964"/>
            <a:ext cx="5061859" cy="451212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9893C6-EB38-1496-04E1-093151848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1170" y="2705593"/>
            <a:ext cx="6369659" cy="3414863"/>
          </a:xfrm>
          <a:prstGeom prst="rect">
            <a:avLst/>
          </a:prstGeom>
          <a:effectLst>
            <a:outerShdw blurRad="254000" dir="5400000" algn="ctr" rotWithShape="0">
              <a:srgbClr val="000000">
                <a:alpha val="6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5697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155575" y="188913"/>
            <a:ext cx="1188085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>
                <a:latin typeface="+mj-lt"/>
              </a:rPr>
              <a:t>Контрольные вопросы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155572" y="1243211"/>
            <a:ext cx="11880849" cy="48320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1400" b="1" dirty="0"/>
              <a:t>1. Что такое ключевые точки и зачем они нужны?</a:t>
            </a:r>
          </a:p>
          <a:p>
            <a:r>
              <a:rPr lang="ru-RU" sz="1400" dirty="0"/>
              <a:t>Ключевые точки - это характерные элементы изображения (углы, контуры, текстурные детали), которые можно надежно обнаруживать даже при изменении масштаба, поворота и освещенности сцены. Они служат ориентирами для описания и сопоставления изображений</a:t>
            </a:r>
          </a:p>
          <a:p>
            <a:endParaRPr lang="ru-RU" sz="1400" dirty="0"/>
          </a:p>
          <a:p>
            <a:r>
              <a:rPr lang="ru-RU" sz="1400" b="1" dirty="0"/>
              <a:t>2. Чем отличаются SIFT и ORB?</a:t>
            </a:r>
          </a:p>
          <a:p>
            <a:r>
              <a:rPr lang="ru-RU" sz="1400" dirty="0"/>
              <a:t>SIFT устойчив к изменению масштаба и поворота, формирует вещественные дескрипторы и хорошо работает на сложных изображениях, но является относительно медленным, в то время как ORB ориентирован на работу в реальном времени, использует быстрые бинарные дескрипторы, однако может уступать SIFT по качеству при сильных искажениях</a:t>
            </a:r>
          </a:p>
          <a:p>
            <a:endParaRPr lang="ru-RU" sz="1400" dirty="0"/>
          </a:p>
          <a:p>
            <a:r>
              <a:rPr lang="ru-RU" sz="1400" b="1" dirty="0"/>
              <a:t>3. В чем разница между </a:t>
            </a:r>
            <a:r>
              <a:rPr lang="ru-RU" sz="1400" b="1" dirty="0" err="1"/>
              <a:t>BFMatcher</a:t>
            </a:r>
            <a:r>
              <a:rPr lang="ru-RU" sz="1400" b="1" dirty="0"/>
              <a:t> и FLANN?</a:t>
            </a:r>
          </a:p>
          <a:p>
            <a:r>
              <a:rPr lang="ru-RU" sz="1400" dirty="0" err="1"/>
              <a:t>BFMatcher</a:t>
            </a:r>
            <a:r>
              <a:rPr lang="ru-RU" sz="1400" dirty="0"/>
              <a:t> производит полный перебор всех возможных пар дескрипторов для нахождения точных ближайших соседей, что вычислительно затратно. FLANN (Fast Library </a:t>
            </a:r>
            <a:r>
              <a:rPr lang="ru-RU" sz="1400" dirty="0" err="1"/>
              <a:t>for</a:t>
            </a:r>
            <a:r>
              <a:rPr lang="ru-RU" sz="1400" dirty="0"/>
              <a:t> </a:t>
            </a:r>
            <a:r>
              <a:rPr lang="ru-RU" sz="1400" dirty="0" err="1"/>
              <a:t>Approximate</a:t>
            </a:r>
            <a:r>
              <a:rPr lang="ru-RU" sz="1400" dirty="0"/>
              <a:t> </a:t>
            </a:r>
            <a:r>
              <a:rPr lang="ru-RU" sz="1400" dirty="0" err="1"/>
              <a:t>Nearest</a:t>
            </a:r>
            <a:r>
              <a:rPr lang="ru-RU" sz="1400" dirty="0"/>
              <a:t> </a:t>
            </a:r>
            <a:r>
              <a:rPr lang="ru-RU" sz="1400" dirty="0" err="1"/>
              <a:t>Neighbors</a:t>
            </a:r>
            <a:r>
              <a:rPr lang="ru-RU" sz="1400" dirty="0"/>
              <a:t>) использует алгоритмы приближенного поиска ближайших соседей, что обеспечивает высокую скорость обработки больших массивов данных</a:t>
            </a:r>
          </a:p>
          <a:p>
            <a:endParaRPr lang="ru-RU" sz="1400" dirty="0"/>
          </a:p>
          <a:p>
            <a:r>
              <a:rPr lang="ru-RU" sz="1400" b="1" dirty="0"/>
              <a:t>4. Для чего используется фильтрация по методу Лоу?</a:t>
            </a:r>
          </a:p>
          <a:p>
            <a:r>
              <a:rPr lang="ru-RU" sz="1400" dirty="0"/>
              <a:t>Фильтрация по отношению расстояний Лоу используется для исключения ложных и случайных совпадений. Совпадение признается корректным только тогда, когда расстояние до первого ближайшего соседа значительно меньше расстояния до второго (обычно с коэффициентом 0.7-0.8)</a:t>
            </a:r>
          </a:p>
          <a:p>
            <a:endParaRPr lang="ru-RU" sz="1400" dirty="0"/>
          </a:p>
          <a:p>
            <a:r>
              <a:rPr lang="ru-RU" sz="1400" b="1" dirty="0"/>
              <a:t>5. В каких практических задачах применяется сопоставление изображений?</a:t>
            </a:r>
          </a:p>
          <a:p>
            <a:r>
              <a:rPr lang="ru-RU" sz="1400" dirty="0"/>
              <a:t>Сопоставление изображений применяется для поиска и распознавания объектов на сцене, склейки панорам, 3D-реконструкции, оптической навигации и отслеживания перемещений, а также для автоматического обнаружения логотипов и сравнения документов</a:t>
            </a:r>
          </a:p>
        </p:txBody>
      </p:sp>
    </p:spTree>
    <p:extLst>
      <p:ext uri="{BB962C8B-B14F-4D97-AF65-F5344CB8AC3E}">
        <p14:creationId xmlns:p14="http://schemas.microsoft.com/office/powerpoint/2010/main" val="36282104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E0652-C363-06DA-A12C-453394A0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858293"/>
            <a:ext cx="10801349" cy="1141413"/>
          </a:xfrm>
        </p:spPr>
        <p:txBody>
          <a:bodyPr/>
          <a:lstStyle/>
          <a:p>
            <a:pPr algn="ctr"/>
            <a:r>
              <a:rPr lang="ru-RU" b="1" dirty="0"/>
              <a:t>Спасибо за внимание!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0CA38D-6AB6-8BDB-808C-C23C15E8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21519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774</Words>
  <Application>Microsoft Office PowerPoint</Application>
  <PresentationFormat>Широкоэкранный</PresentationFormat>
  <Paragraphs>52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Тема Office</vt:lpstr>
      <vt:lpstr>Практическая работа №5: Поиск ключевых точек и сопоставление изображений</vt:lpstr>
      <vt:lpstr>Задания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Temirlan Akramov</dc:creator>
  <cp:lastModifiedBy>Temirlan Akramov</cp:lastModifiedBy>
  <cp:revision>14</cp:revision>
  <dcterms:created xsi:type="dcterms:W3CDTF">2026-09-16T15:58:33Z</dcterms:created>
  <dcterms:modified xsi:type="dcterms:W3CDTF">2026-10-29T02:49:03Z</dcterms:modified>
</cp:coreProperties>
</file>