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orient="horz" pos="3974" userDrawn="1">
          <p15:clr>
            <a:srgbClr val="A4A3A4"/>
          </p15:clr>
        </p15:guide>
        <p15:guide id="3" pos="937" userDrawn="1">
          <p15:clr>
            <a:srgbClr val="A4A3A4"/>
          </p15:clr>
        </p15:guide>
        <p15:guide id="4" pos="67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>
        <p:guide orient="horz" pos="346"/>
        <p:guide orient="horz" pos="3974"/>
        <p:guide pos="937"/>
        <p:guide pos="67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8FABF-92EB-4A28-9D96-EEEDC3A31D40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C420-320D-43F3-8A1E-7EA6D07B5A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08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4CA74-5891-0962-7F34-2D269883B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64628B-ACFC-48BD-994A-A45DD3715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AB6A32-3498-D97F-C566-BFD3B9D0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EE1F-2934-495D-856C-8D902092E890}" type="datetime1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6321E8-D9B6-367F-E84E-51DDB4F6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59484B-4F4B-27E6-B99D-C697E130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252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D697F-B881-D447-A8A1-3653B7B0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53F89-90BF-2629-502D-5931D406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6EA5B8-4726-9188-6115-B89106A1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DE2A-647D-4500-9D2E-502AC02C4614}" type="datetime1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00C1B-CF92-0371-90DB-79F8D564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90595D-A75F-CAB5-AE90-E3E07EB4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387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A941C-ACAE-B768-7847-E6775439C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1B2D38-00F6-3DFA-E503-F0C09CEAA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EFF993-96BC-9FC1-91ED-92777C56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44451-672F-45F1-88E4-8B4F5094B741}" type="datetime1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EF5120-F671-1C1E-3C47-E98D2E58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00AE5C-F751-1159-5464-822147EB9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50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89D2C-3651-CAFC-EF50-E83DF2ED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247EC4-6DE9-B843-CAF2-ECE6808F6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7E96C9-AD9C-F0F3-2E8C-448EA93C8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1F51A0-F82C-0F42-DA6A-C48D9844F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6CC5-59D3-433C-92EF-64C02CE878DA}" type="datetime1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83A810-3FD3-3810-80CA-B4428307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F73FCE-213E-6581-2041-1B43E3B9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67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E52D6-1E2A-DE3E-2D07-2E3639A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30DD91-D018-EAF1-500D-F8F9F4BF3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A85A0B-BEBB-9177-5351-7804EF964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1C7659-04A4-F62B-7725-6100AA605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367E88D-9109-7F25-8154-BFA444625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6E328C5-8E0E-C1ED-C124-4D6E5885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5CA7-9EF3-40A2-95F2-8EF16B26BE6A}" type="datetime1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485F774-367D-382E-36A4-B02393AB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2816B7-62C6-5A7E-6221-A1C3BFAD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821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92608-AD05-9047-97D8-E93C65FF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8238BA-2101-77D5-A4A4-FC7194BAF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9540-2548-477D-A6DA-EDB84F67A50B}" type="datetime1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BF0DD2-0F4D-22FB-9506-1208C7DD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478D59-A710-67CE-9B76-A263D4B0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25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8E2444-CD58-EA1B-B50E-CE11C519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C029-194E-49EB-BA02-35756DA27575}" type="datetime1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10BB43-416E-C502-0F45-D775BEC01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87ECDD-7BAF-97B9-6CBB-FC6C011F4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10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987DC-2CF0-A417-54B2-EB45847C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BB83F4-BB96-ABA4-D745-BFF31E9D1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903BE5-A6FD-B9F1-B587-54F7D6F79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0B34B-03D1-CB35-F9AE-9676E7561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CD5A-8A32-448E-8FB6-21BB2461D800}" type="datetime1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EEDB42-EF94-B74D-FFE7-AEEBCE66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CE31A8-9A03-2ECD-356B-105A2DC5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00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275C9-7E70-5004-7B95-36350E0F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2B57CA-452A-2A34-7E96-F835183AF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A32018-C8DE-2E14-570A-477764094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5C992C-AA87-E56F-BF8D-ACB7934F4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9BF4E-BA3A-41CB-9559-EB408650D4F0}" type="datetime1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00FC96-E622-5106-A5AE-813FA528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53811D-1610-9287-2708-3EC0E481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30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11837-011F-931C-53F9-AC857C4D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E5D3AE-FF19-7B37-DAA8-952CF5644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72F4D5-4F29-AAA2-D0B8-ED332AE1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7BD34-D32B-4D72-9CBA-4E8D578FEEE7}" type="datetime1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FCD33D-1639-1C28-89A1-B4CD7995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0FF268-F5B4-B806-9A84-E613BB98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01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A6B3C08-346F-3C81-D7C3-470FD0CC6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13B125-F7C1-BA50-74E5-9532D7DB4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94640D-C2A1-81D1-B46A-EC3CD65DF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85BE-6B8F-41F3-A0F2-64C4E49B1807}" type="datetime1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06C275-6A53-9424-13E9-EDB738B0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05B914-D3CF-239C-B60A-DA29285D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092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0D70B-ECE8-4548-DCA1-2D3D5105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D11D8A-F8B5-F07E-8C28-BD7E27E8E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F890C8-E192-9413-A04C-AF73FBE9A0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FBBDD-9558-4802-8A3E-66A2C0A2BB66}" type="datetime1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82FD1-0430-A04B-58D3-01321D466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47C9A9-A8A9-77B5-50C8-66103CF77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65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D6347-2948-828C-BECF-D54422C54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7488" y="2239002"/>
            <a:ext cx="9180512" cy="2047248"/>
          </a:xfrm>
        </p:spPr>
        <p:txBody>
          <a:bodyPr anchor="ctr">
            <a:noAutofit/>
          </a:bodyPr>
          <a:lstStyle/>
          <a:p>
            <a:r>
              <a:rPr lang="ru-RU" sz="4500" dirty="0"/>
              <a:t>Практическая работа №1:</a:t>
            </a:r>
            <a:br>
              <a:rPr lang="ru-RU" sz="4500" dirty="0"/>
            </a:br>
            <a:r>
              <a:rPr lang="ru-RU" sz="4500" b="1" dirty="0"/>
              <a:t>Основы работы с изображениями и цветовые модели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1C6DBC-CA8F-F90E-3B35-57B4F6F4A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7488" y="4286250"/>
            <a:ext cx="9180512" cy="404478"/>
          </a:xfrm>
        </p:spPr>
        <p:txBody>
          <a:bodyPr anchor="ctr">
            <a:normAutofit lnSpcReduction="10000"/>
          </a:bodyPr>
          <a:lstStyle/>
          <a:p>
            <a:r>
              <a:rPr lang="ru-RU" dirty="0"/>
              <a:t>Вариант №3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5BA5D-C693-EE1D-CB03-23984F88CBB5}"/>
              </a:ext>
            </a:extLst>
          </p:cNvPr>
          <p:cNvSpPr txBox="1"/>
          <p:nvPr/>
        </p:nvSpPr>
        <p:spPr>
          <a:xfrm>
            <a:off x="7972926" y="5354618"/>
            <a:ext cx="26950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/>
              <a:t>Работу выполнили:</a:t>
            </a:r>
            <a:br>
              <a:rPr lang="ru-RU" sz="1400" dirty="0"/>
            </a:br>
            <a:r>
              <a:rPr lang="ru-RU" sz="1400" dirty="0"/>
              <a:t>студенты 932302 группы</a:t>
            </a:r>
            <a:br>
              <a:rPr lang="ru-RU" sz="1400" dirty="0"/>
            </a:br>
            <a:r>
              <a:rPr lang="ru-RU" sz="1400" dirty="0"/>
              <a:t>Акрамов </a:t>
            </a:r>
            <a:r>
              <a:rPr lang="ru-RU" sz="1400" dirty="0" err="1"/>
              <a:t>Темирлан</a:t>
            </a:r>
            <a:r>
              <a:rPr lang="ru-RU" sz="1400" dirty="0"/>
              <a:t>,</a:t>
            </a:r>
            <a:br>
              <a:rPr lang="ru-RU" sz="1400" dirty="0"/>
            </a:br>
            <a:r>
              <a:rPr lang="ru-RU" sz="1400" dirty="0"/>
              <a:t>Гуров Иван</a:t>
            </a:r>
          </a:p>
        </p:txBody>
      </p:sp>
    </p:spTree>
    <p:extLst>
      <p:ext uri="{BB962C8B-B14F-4D97-AF65-F5344CB8AC3E}">
        <p14:creationId xmlns:p14="http://schemas.microsoft.com/office/powerpoint/2010/main" val="68828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5899" y="565739"/>
            <a:ext cx="921277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1. Загрузить цветное изображение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5899" y="1540983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считывание файла с диска и представление изображения в виде трёхмерной матрицы чисел в цветовой модели BGR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93321" y="2700893"/>
            <a:ext cx="42038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88579" y="2700893"/>
            <a:ext cx="46101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2E46308-EE73-99FB-4EC5-447659A2F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579" y="3070225"/>
            <a:ext cx="4579421" cy="32385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AD82592F-C9E4-8993-8390-BF5295771C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280"/>
          <a:stretch/>
        </p:blipFill>
        <p:spPr>
          <a:xfrm>
            <a:off x="1485899" y="4413948"/>
            <a:ext cx="4209527" cy="189477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7C412D-6EBA-0A0C-742A-B854CC94F1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904"/>
          <a:stretch/>
        </p:blipFill>
        <p:spPr>
          <a:xfrm>
            <a:off x="1485899" y="3070225"/>
            <a:ext cx="4203831" cy="1298014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063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2190" y="549275"/>
            <a:ext cx="9212778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2. Преобразовать изображение в градации серого и вывести минимальное и максимальное значение пикселей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2189" y="1963638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снижение размерности данных с трёх каналов до одного (яркостного) и оценка динамического диапазона освещённости сцены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85900" y="2700893"/>
            <a:ext cx="417380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88579" y="2700893"/>
            <a:ext cx="46101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5BDC36-B520-D97F-328F-8FE1B14AA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189" y="3070225"/>
            <a:ext cx="4177514" cy="220766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982C5E-5066-C92A-69EA-FF15E6514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5647217"/>
            <a:ext cx="4173803" cy="6615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EF9D50-7263-2AE5-281E-5AE59038C9F9}"/>
              </a:ext>
            </a:extLst>
          </p:cNvPr>
          <p:cNvSpPr txBox="1"/>
          <p:nvPr/>
        </p:nvSpPr>
        <p:spPr>
          <a:xfrm>
            <a:off x="1482189" y="5277885"/>
            <a:ext cx="417380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Терминал: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4C42DD7-4A1B-907C-90BC-805F77349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868" y="3070225"/>
            <a:ext cx="4583132" cy="3238500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E68AB01A-8F4E-E197-5EE4-ADA4BA8C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595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2190" y="549275"/>
            <a:ext cx="918581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3. Преобразовать изображение в </a:t>
            </a:r>
            <a:r>
              <a:rPr lang="ru-RU" sz="2800" b="1" dirty="0" err="1">
                <a:latin typeface="+mj-lt"/>
              </a:rPr>
              <a:t>YCrCb</a:t>
            </a:r>
            <a:r>
              <a:rPr lang="ru-RU" sz="2800" b="1" dirty="0">
                <a:latin typeface="+mj-lt"/>
              </a:rPr>
              <a:t> и вывести отдельные каналы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85900" y="2700893"/>
            <a:ext cx="417380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57900" y="2703199"/>
            <a:ext cx="46101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13972E-B628-2140-FDB2-37D962BD46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357"/>
          <a:stretch/>
        </p:blipFill>
        <p:spPr>
          <a:xfrm>
            <a:off x="6095999" y="3066902"/>
            <a:ext cx="4572000" cy="324182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7E70602-039E-5B0E-9198-712C025B2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3066902"/>
            <a:ext cx="4172215" cy="32418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081176-D1EE-00B4-D512-DF4558557F77}"/>
              </a:ext>
            </a:extLst>
          </p:cNvPr>
          <p:cNvSpPr txBox="1"/>
          <p:nvPr/>
        </p:nvSpPr>
        <p:spPr>
          <a:xfrm>
            <a:off x="1489610" y="1747042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разделение визуальной информации на яркостную составляющую </a:t>
            </a:r>
            <a:r>
              <a:rPr lang="en-US" sz="2000" dirty="0"/>
              <a:t>(Y) </a:t>
            </a:r>
            <a:r>
              <a:rPr lang="ru-RU" sz="2000" dirty="0"/>
              <a:t>и две цветоразностные </a:t>
            </a:r>
            <a:r>
              <a:rPr lang="en-US" sz="2000" dirty="0"/>
              <a:t>(Cr, </a:t>
            </a:r>
            <a:r>
              <a:rPr lang="en-US" sz="2000" dirty="0" err="1"/>
              <a:t>Cb</a:t>
            </a:r>
            <a:r>
              <a:rPr lang="en-US" sz="2000" dirty="0"/>
              <a:t>)</a:t>
            </a:r>
            <a:endParaRPr lang="ru-RU" sz="2000" dirty="0"/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684D501B-E133-D9A8-6B7A-D563CF6B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317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9610" y="1747042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разделение визуальной информации на яркостную составляющую </a:t>
            </a:r>
            <a:r>
              <a:rPr lang="en-US" sz="2000" dirty="0"/>
              <a:t>(Y) </a:t>
            </a:r>
            <a:r>
              <a:rPr lang="ru-RU" sz="2000" dirty="0"/>
              <a:t>и две цветоразностные </a:t>
            </a:r>
            <a:r>
              <a:rPr lang="en-US" sz="2000" dirty="0"/>
              <a:t>(Cr, </a:t>
            </a:r>
            <a:r>
              <a:rPr lang="en-US" sz="2000" dirty="0" err="1"/>
              <a:t>Cb</a:t>
            </a:r>
            <a:r>
              <a:rPr lang="en-US" sz="2000" dirty="0"/>
              <a:t>)</a:t>
            </a:r>
            <a:endParaRPr lang="ru-RU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85900" y="2700893"/>
            <a:ext cx="417221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57900" y="2703199"/>
            <a:ext cx="46101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13972E-B628-2140-FDB2-37D962BD46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94" r="34663"/>
          <a:stretch/>
        </p:blipFill>
        <p:spPr>
          <a:xfrm>
            <a:off x="6096001" y="3066902"/>
            <a:ext cx="4572000" cy="324182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619218-ACB6-C2D4-CBA2-18ACD378B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3066902"/>
            <a:ext cx="4172215" cy="32418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A0700A-D1A3-CABA-8257-0049F29CEB91}"/>
              </a:ext>
            </a:extLst>
          </p:cNvPr>
          <p:cNvSpPr txBox="1"/>
          <p:nvPr/>
        </p:nvSpPr>
        <p:spPr>
          <a:xfrm>
            <a:off x="1482190" y="549275"/>
            <a:ext cx="918581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3. Преобразовать изображение в </a:t>
            </a:r>
            <a:r>
              <a:rPr lang="ru-RU" sz="2800" b="1" dirty="0" err="1">
                <a:latin typeface="+mj-lt"/>
              </a:rPr>
              <a:t>YCrCb</a:t>
            </a:r>
            <a:r>
              <a:rPr lang="ru-RU" sz="2800" b="1" dirty="0">
                <a:latin typeface="+mj-lt"/>
              </a:rPr>
              <a:t> и вывести отдельные каналы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D7BD2D-450B-9072-1CC3-235F616A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0561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85900" y="2700893"/>
            <a:ext cx="417221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57900" y="2703199"/>
            <a:ext cx="46101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13972E-B628-2140-FDB2-37D962BD46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357"/>
          <a:stretch/>
        </p:blipFill>
        <p:spPr>
          <a:xfrm>
            <a:off x="6096001" y="3066902"/>
            <a:ext cx="4572000" cy="324182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2A65E3-D5D4-3AF9-E35A-543011D05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3066902"/>
            <a:ext cx="4170627" cy="3241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717830-3824-984A-0FE8-3764A8CCF5E4}"/>
              </a:ext>
            </a:extLst>
          </p:cNvPr>
          <p:cNvSpPr txBox="1"/>
          <p:nvPr/>
        </p:nvSpPr>
        <p:spPr>
          <a:xfrm>
            <a:off x="1482190" y="549275"/>
            <a:ext cx="918581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3. Преобразовать изображение в </a:t>
            </a:r>
            <a:r>
              <a:rPr lang="ru-RU" sz="2800" b="1" dirty="0" err="1">
                <a:latin typeface="+mj-lt"/>
              </a:rPr>
              <a:t>YCrCb</a:t>
            </a:r>
            <a:r>
              <a:rPr lang="ru-RU" sz="2800" b="1" dirty="0">
                <a:latin typeface="+mj-lt"/>
              </a:rPr>
              <a:t> и вывести отдельные каналы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F1F59B-B0EE-8AD8-BE35-7EF5C2451747}"/>
              </a:ext>
            </a:extLst>
          </p:cNvPr>
          <p:cNvSpPr txBox="1"/>
          <p:nvPr/>
        </p:nvSpPr>
        <p:spPr>
          <a:xfrm>
            <a:off x="1489610" y="1747042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разделение визуальной информации на яркостную составляющую </a:t>
            </a:r>
            <a:r>
              <a:rPr lang="en-US" sz="2000" dirty="0"/>
              <a:t>(Y) </a:t>
            </a:r>
            <a:r>
              <a:rPr lang="ru-RU" sz="2000" dirty="0"/>
              <a:t>и две цветоразностные </a:t>
            </a:r>
            <a:r>
              <a:rPr lang="en-US" sz="2000" dirty="0"/>
              <a:t>(Cr, </a:t>
            </a:r>
            <a:r>
              <a:rPr lang="en-US" sz="2000" dirty="0" err="1"/>
              <a:t>Cb</a:t>
            </a:r>
            <a:r>
              <a:rPr lang="en-US" sz="2000" dirty="0"/>
              <a:t>)</a:t>
            </a:r>
            <a:endParaRPr lang="ru-RU" sz="2000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F13964B-87DF-AA68-A2E5-441A8684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9306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5899" y="549275"/>
            <a:ext cx="918210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</a:t>
            </a:r>
            <a:r>
              <a:rPr lang="en-US" sz="2800" b="1" dirty="0">
                <a:latin typeface="+mj-lt"/>
              </a:rPr>
              <a:t>4</a:t>
            </a:r>
            <a:r>
              <a:rPr lang="ru-RU" sz="2800" b="1" dirty="0">
                <a:latin typeface="+mj-lt"/>
              </a:rPr>
              <a:t>. Сделать инверсию цвета (отнять каждый канал от 255) и сохранить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5898" y="1748194"/>
            <a:ext cx="918210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базовая арифметика над пикселями для создания эффекта фотонегатива с последующей записью результата в файл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93321" y="2700893"/>
            <a:ext cx="42038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88579" y="2700893"/>
            <a:ext cx="45794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D62C63-7E4A-DB3A-D1DA-6C1F67A82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321" y="3070225"/>
            <a:ext cx="4198626" cy="20574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BAFD52-FD1D-DE60-1127-6A92B33A0DC3}"/>
              </a:ext>
            </a:extLst>
          </p:cNvPr>
          <p:cNvSpPr txBox="1"/>
          <p:nvPr/>
        </p:nvSpPr>
        <p:spPr>
          <a:xfrm>
            <a:off x="1487924" y="5127626"/>
            <a:ext cx="41874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Терминал: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8ED8086-B24C-14DA-63C6-F1AE2A3C7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090" y="5496958"/>
            <a:ext cx="4198627" cy="81176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195B9F1-4E12-06B4-9B28-378AFE119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070225"/>
            <a:ext cx="4571999" cy="3238500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71994455-97A7-E93D-030B-CD5AE525C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24718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5899" y="549275"/>
            <a:ext cx="918210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5. Нарисовать прямоугольник на изображении красного цвета вокруг центральной области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5898" y="1748194"/>
            <a:ext cx="918210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создание базовой фигуры поверх изображения, чтобы визуально выделить нужный объект или зону в кадре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93321" y="2700893"/>
            <a:ext cx="42038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95999" y="2700893"/>
            <a:ext cx="45720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885C84-0310-1981-BE5D-B7D29D815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321" y="3070225"/>
            <a:ext cx="4203831" cy="32385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1833D7F-3192-F23D-48D2-6FA718D6B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070225"/>
            <a:ext cx="4571999" cy="3238500"/>
          </a:xfrm>
          <a:prstGeom prst="rect">
            <a:avLst/>
          </a:prstGeom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BC0F6DC-C57A-85A1-45B1-DE410A3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86003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5899" y="549275"/>
            <a:ext cx="918210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6. Отразить изображение по горизонтали, по вертикали и по обеим осям сразу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5897" y="1594306"/>
            <a:ext cx="918210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зеркальный переворот картинки в разные стороны (вверх ногами, слева направо и наискосок) с помощью изменения порядка строк и столбцов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93321" y="2700893"/>
            <a:ext cx="42038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95999" y="2700893"/>
            <a:ext cx="45720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8DB5022-9FD0-6730-BB27-D222EF110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897" y="3070225"/>
            <a:ext cx="4211255" cy="32385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68F4517-3BA1-84B9-B301-FB76E61E6A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447"/>
          <a:stretch/>
        </p:blipFill>
        <p:spPr>
          <a:xfrm>
            <a:off x="6095999" y="3070225"/>
            <a:ext cx="4571999" cy="3238500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F336EB0A-49A1-F94D-4617-C84D35BD1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37962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5899" y="549275"/>
            <a:ext cx="918210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6. Отразить изображение по горизонтали, по вертикали и по обеим осям сразу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5897" y="1594306"/>
            <a:ext cx="918210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зеркальный переворот картинки в разные стороны (вверх ногами, слева направо и наискосок) с помощью изменения порядка строк и столбцов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93321" y="2700893"/>
            <a:ext cx="42038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95999" y="2700893"/>
            <a:ext cx="45720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68F4517-3BA1-84B9-B301-FB76E61E6A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23" t="79" r="34723" b="-79"/>
          <a:stretch/>
        </p:blipFill>
        <p:spPr>
          <a:xfrm>
            <a:off x="6095999" y="3070225"/>
            <a:ext cx="4571999" cy="32385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3A03B6-2295-028A-19DF-D6D5CC917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321" y="3070225"/>
            <a:ext cx="4203831" cy="32385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467423-826C-36D0-76F5-5DE7BFA0D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66589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5899" y="549275"/>
            <a:ext cx="918210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6. Отразить изображение по горизонтали, по вертикали и по обеим осям сразу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5897" y="1594306"/>
            <a:ext cx="918210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зеркальный переворот картинки в разные стороны (вверх ногами, слева направо и наискосок) с помощью изменения порядка строк и столбцов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93321" y="2700893"/>
            <a:ext cx="42038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95999" y="2700893"/>
            <a:ext cx="45720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68F4517-3BA1-84B9-B301-FB76E61E6A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446"/>
          <a:stretch/>
        </p:blipFill>
        <p:spPr>
          <a:xfrm>
            <a:off x="6095999" y="3070225"/>
            <a:ext cx="4571999" cy="32385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79B09B-306E-F2DA-8344-CADE2E62B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897" y="3070225"/>
            <a:ext cx="4211255" cy="32385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C290A2-9444-B917-EDC3-1E0F8E8CF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56397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04949" y="549275"/>
            <a:ext cx="91630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7. Обрезать изображение и сохранить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93321" y="2700893"/>
            <a:ext cx="42038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95999" y="2700893"/>
            <a:ext cx="45720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410A0E-D7A6-8BAB-6529-91DD7D536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322" y="3070224"/>
            <a:ext cx="4203830" cy="19700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213034-1DB3-6960-E018-AC3149DB9E86}"/>
              </a:ext>
            </a:extLst>
          </p:cNvPr>
          <p:cNvSpPr txBox="1"/>
          <p:nvPr/>
        </p:nvSpPr>
        <p:spPr>
          <a:xfrm>
            <a:off x="1493322" y="5040312"/>
            <a:ext cx="41874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Терминал: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2E6C211-DA84-9E6B-04F1-44E27FC06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321" y="5409644"/>
            <a:ext cx="4187495" cy="8990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14B7D0-F4C8-26B0-FCDA-B0777CECB6AB}"/>
              </a:ext>
            </a:extLst>
          </p:cNvPr>
          <p:cNvSpPr txBox="1"/>
          <p:nvPr/>
        </p:nvSpPr>
        <p:spPr>
          <a:xfrm>
            <a:off x="1485897" y="1534318"/>
            <a:ext cx="918210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извлечение нужного фрагмента изображения для фокусировки на отдельной части кадра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2F7ED1A-8EA9-9AB2-2D6E-98300EA7F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70224"/>
            <a:ext cx="3103026" cy="323850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B06067F-6127-6939-88C1-09AF687F18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3595" b="43595"/>
          <a:stretch/>
        </p:blipFill>
        <p:spPr>
          <a:xfrm>
            <a:off x="9288779" y="3070224"/>
            <a:ext cx="1379219" cy="3238501"/>
          </a:xfrm>
          <a:prstGeom prst="rect">
            <a:avLst/>
          </a:prstGeom>
        </p:spPr>
      </p:pic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A27B3D08-9886-BA57-671E-FC3A23A83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68421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5896" y="557530"/>
            <a:ext cx="91821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8. Удалить один цветовой канал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5895" y="1536878"/>
            <a:ext cx="918210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изоляция и обнуление данных одного из каналов для цветокоррекции/тонирования.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93321" y="2700893"/>
            <a:ext cx="42038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95999" y="2700893"/>
            <a:ext cx="45720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7953C3-19AC-B0B2-D3C8-E3163E7D6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895" y="3070225"/>
            <a:ext cx="4211257" cy="154301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9CCBDFD-9029-C5EE-06FA-C2C7AA2D7E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17" r="43573"/>
          <a:stretch/>
        </p:blipFill>
        <p:spPr>
          <a:xfrm>
            <a:off x="1485892" y="4613236"/>
            <a:ext cx="4211259" cy="168723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B1DF4B8-196C-BA42-FF87-C4322D095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3070225"/>
            <a:ext cx="4572002" cy="3230245"/>
          </a:xfrm>
          <a:prstGeom prst="rect">
            <a:avLst/>
          </a:prstGeom>
        </p:spPr>
      </p:pic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542A7705-CE38-B1F5-D66B-50132E2A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07799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5896" y="557530"/>
            <a:ext cx="91821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9. Добавить текст на изображение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5891" y="1690766"/>
            <a:ext cx="918210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нанесение текстовых меток поверх графических данных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93321" y="2700893"/>
            <a:ext cx="42038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95999" y="2700893"/>
            <a:ext cx="45720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9CCBDFD-9029-C5EE-06FA-C2C7AA2D7E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17" r="43573"/>
          <a:stretch/>
        </p:blipFill>
        <p:spPr>
          <a:xfrm>
            <a:off x="1485892" y="4055501"/>
            <a:ext cx="4211259" cy="22449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A6E11D-B91F-2C5E-4299-330A77691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891" y="3070225"/>
            <a:ext cx="4211259" cy="9852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3AB4349-7312-89C1-DAC2-D1E605FB8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5" y="3070225"/>
            <a:ext cx="4572001" cy="3238500"/>
          </a:xfrm>
          <a:prstGeom prst="rect">
            <a:avLst/>
          </a:prstGeom>
        </p:spPr>
      </p:pic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6B9E6622-9382-3575-940F-5EA82209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8133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5896" y="557530"/>
            <a:ext cx="91821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10. </a:t>
            </a:r>
            <a:r>
              <a:rPr lang="ru-RU" sz="2800" b="1" dirty="0" err="1">
                <a:latin typeface="+mj-lt"/>
              </a:rPr>
              <a:t>Бинаризовать</a:t>
            </a:r>
            <a:r>
              <a:rPr lang="ru-RU" sz="2800" b="1" dirty="0">
                <a:latin typeface="+mj-lt"/>
              </a:rPr>
              <a:t> изображение и сохранить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5891" y="1536878"/>
            <a:ext cx="9182106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разделение пикселей по порогу яркости на две группы (черное/белое без серых полутонов) для отделения объектов от фона.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493321" y="2700893"/>
            <a:ext cx="42038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6095999" y="2700893"/>
            <a:ext cx="45720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E68230-89B6-ECB9-8CBD-A9CF199EC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317" y="3070225"/>
            <a:ext cx="4203831" cy="17798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DE9065-B19C-FCDD-6886-472F9BB135B7}"/>
              </a:ext>
            </a:extLst>
          </p:cNvPr>
          <p:cNvSpPr txBox="1"/>
          <p:nvPr/>
        </p:nvSpPr>
        <p:spPr>
          <a:xfrm>
            <a:off x="1493322" y="5040312"/>
            <a:ext cx="41874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Терминал: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48B76AC-DCD4-7547-2D7F-977B2694E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891" y="5409645"/>
            <a:ext cx="4211257" cy="89908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6FA2AC8-72B5-A7FD-CC84-698521F9F2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717" r="43573"/>
          <a:stretch/>
        </p:blipFill>
        <p:spPr>
          <a:xfrm>
            <a:off x="1485889" y="4850079"/>
            <a:ext cx="4211259" cy="19023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36DCDEE-9395-56D3-39C9-85558190B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663" y="3070225"/>
            <a:ext cx="4588334" cy="3239393"/>
          </a:xfrm>
          <a:prstGeom prst="rect">
            <a:avLst/>
          </a:prstGeom>
        </p:spPr>
      </p:pic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53D5D76B-175F-2DD7-0427-4E335E4EA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0525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78764" y="448811"/>
            <a:ext cx="9182101" cy="7660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Контрольные вопросы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7488" y="1024212"/>
            <a:ext cx="9182106" cy="5407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b="1" dirty="0"/>
              <a:t>1. Что такое пиксель и как он представлен в цветном изображении?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5E4DE-7D6B-49F6-7D70-49D3CC230020}"/>
              </a:ext>
            </a:extLst>
          </p:cNvPr>
          <p:cNvSpPr txBox="1"/>
          <p:nvPr/>
        </p:nvSpPr>
        <p:spPr>
          <a:xfrm>
            <a:off x="1487488" y="1332946"/>
            <a:ext cx="9182106" cy="9462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наименьший элемент цифрового изображения, содержащий информацию о яркости и цвете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BCE2EF-1E4E-4104-5239-E6203734018B}"/>
              </a:ext>
            </a:extLst>
          </p:cNvPr>
          <p:cNvSpPr txBox="1"/>
          <p:nvPr/>
        </p:nvSpPr>
        <p:spPr>
          <a:xfrm>
            <a:off x="1487488" y="2052466"/>
            <a:ext cx="9182106" cy="5407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b="1" dirty="0"/>
              <a:t>2. В чем разница между RGB и HSV?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6288AE-09CC-5A07-59ED-90CC972FC3F3}"/>
              </a:ext>
            </a:extLst>
          </p:cNvPr>
          <p:cNvSpPr txBox="1"/>
          <p:nvPr/>
        </p:nvSpPr>
        <p:spPr>
          <a:xfrm>
            <a:off x="1487488" y="2237875"/>
            <a:ext cx="9182106" cy="175740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en-US" dirty="0"/>
              <a:t>RGB </a:t>
            </a:r>
            <a:r>
              <a:rPr lang="ru-RU" dirty="0"/>
              <a:t>основан на смешивании трёх основных цветов (красного, зеленого и синего) и является основным способом представления цветов на экране</a:t>
            </a:r>
            <a:r>
              <a:rPr lang="en-US" dirty="0"/>
              <a:t>; </a:t>
            </a:r>
            <a:r>
              <a:rPr lang="ru-RU" dirty="0"/>
              <a:t>в </a:t>
            </a:r>
            <a:r>
              <a:rPr lang="en-US" dirty="0"/>
              <a:t>HSV </a:t>
            </a:r>
            <a:r>
              <a:rPr lang="ru-RU" dirty="0"/>
              <a:t>цвета представлены через параметры </a:t>
            </a:r>
            <a:r>
              <a:rPr lang="en-US" dirty="0"/>
              <a:t>Hue (</a:t>
            </a:r>
            <a:r>
              <a:rPr lang="ru-RU" dirty="0"/>
              <a:t>цветовой тон)</a:t>
            </a:r>
            <a:r>
              <a:rPr lang="en-US" dirty="0"/>
              <a:t>, Saturation (</a:t>
            </a:r>
            <a:r>
              <a:rPr lang="ru-RU" dirty="0"/>
              <a:t>насыщенность) и </a:t>
            </a:r>
            <a:r>
              <a:rPr lang="en-US" dirty="0"/>
              <a:t>Value (</a:t>
            </a:r>
            <a:r>
              <a:rPr lang="ru-RU" dirty="0"/>
              <a:t>значение яркости), что удобно для обработки оттенков</a:t>
            </a:r>
            <a:endParaRPr lang="ru-RU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A8668-D6E4-5A1C-E82D-453FBC4EA553}"/>
              </a:ext>
            </a:extLst>
          </p:cNvPr>
          <p:cNvSpPr txBox="1"/>
          <p:nvPr/>
        </p:nvSpPr>
        <p:spPr>
          <a:xfrm>
            <a:off x="1496217" y="3636327"/>
            <a:ext cx="9164648" cy="5407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b="1" dirty="0"/>
              <a:t>3. Как получить отдельный цветовой канал в </a:t>
            </a:r>
            <a:r>
              <a:rPr lang="ru-RU" b="1" dirty="0" err="1"/>
              <a:t>OpenCV</a:t>
            </a:r>
            <a:r>
              <a:rPr lang="ru-RU" b="1" dirty="0"/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0D2500-A0A1-8B4C-1976-D68650FD4B24}"/>
              </a:ext>
            </a:extLst>
          </p:cNvPr>
          <p:cNvSpPr txBox="1"/>
          <p:nvPr/>
        </p:nvSpPr>
        <p:spPr>
          <a:xfrm>
            <a:off x="1487488" y="4008564"/>
            <a:ext cx="9182106" cy="5407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с помощью функции разделения каналов </a:t>
            </a:r>
            <a:r>
              <a:rPr lang="en-US" dirty="0"/>
              <a:t>cv2.split()</a:t>
            </a:r>
            <a:endParaRPr lang="ru-RU" b="1" dirty="0"/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E5B656E7-25A9-3B44-9104-A4F257D1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CB03C1-0B76-2E08-203C-12C1A8C68811}"/>
              </a:ext>
            </a:extLst>
          </p:cNvPr>
          <p:cNvSpPr txBox="1"/>
          <p:nvPr/>
        </p:nvSpPr>
        <p:spPr>
          <a:xfrm>
            <a:off x="1478762" y="4377896"/>
            <a:ext cx="9182106" cy="5407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b="1" dirty="0"/>
              <a:t>4. Как преобразовать цветное изображение в градации серого?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4C8A30-3803-DF2B-B667-815A58C44D49}"/>
              </a:ext>
            </a:extLst>
          </p:cNvPr>
          <p:cNvSpPr txBox="1"/>
          <p:nvPr/>
        </p:nvSpPr>
        <p:spPr>
          <a:xfrm>
            <a:off x="1485893" y="4686657"/>
            <a:ext cx="9167841" cy="9462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с помощью функции изменения цветового пространства </a:t>
            </a:r>
            <a:r>
              <a:rPr lang="en-US" dirty="0"/>
              <a:t>cv2.cvtColor() </a:t>
            </a:r>
            <a:r>
              <a:rPr lang="ru-RU" dirty="0"/>
              <a:t>с флагом </a:t>
            </a:r>
            <a:r>
              <a:rPr lang="en-US" dirty="0"/>
              <a:t>cv2.COLOR_BGR2GRAY</a:t>
            </a:r>
            <a:endParaRPr lang="ru-RU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944073-96C3-A880-15BE-6FC4998BB818}"/>
              </a:ext>
            </a:extLst>
          </p:cNvPr>
          <p:cNvSpPr txBox="1"/>
          <p:nvPr/>
        </p:nvSpPr>
        <p:spPr>
          <a:xfrm>
            <a:off x="1485893" y="5406150"/>
            <a:ext cx="9159859" cy="5407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b="1" dirty="0"/>
              <a:t>5. Что такое альфа-канал?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9D7265-9BC1-3DE0-6747-8C9EA0B1A37E}"/>
              </a:ext>
            </a:extLst>
          </p:cNvPr>
          <p:cNvSpPr txBox="1"/>
          <p:nvPr/>
        </p:nvSpPr>
        <p:spPr>
          <a:xfrm>
            <a:off x="1485893" y="5775482"/>
            <a:ext cx="9167841" cy="5407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доп. канал в изображении RGBA, отвечающий за прозрачность пикселей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560170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E0652-C363-06DA-A12C-453394A05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2858293"/>
            <a:ext cx="9180512" cy="1141413"/>
          </a:xfrm>
        </p:spPr>
        <p:txBody>
          <a:bodyPr/>
          <a:lstStyle/>
          <a:p>
            <a:pPr algn="ctr"/>
            <a:r>
              <a:rPr lang="ru-RU" b="1" dirty="0"/>
              <a:t>Спасибо за внимание!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0CA38D-6AB6-8BDB-808C-C23C15E8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2151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698</Words>
  <Application>Microsoft Office PowerPoint</Application>
  <PresentationFormat>Широкоэкранный</PresentationFormat>
  <Paragraphs>91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Тема Office</vt:lpstr>
      <vt:lpstr>Практическая работа №1: Основы работы с изображениями и цветовые модели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Temirlan Akramov</dc:creator>
  <cp:lastModifiedBy>Temirlan Akramov</cp:lastModifiedBy>
  <cp:revision>2</cp:revision>
  <dcterms:created xsi:type="dcterms:W3CDTF">2026-09-16T15:58:33Z</dcterms:created>
  <dcterms:modified xsi:type="dcterms:W3CDTF">2026-09-16T17:58:08Z</dcterms:modified>
</cp:coreProperties>
</file>