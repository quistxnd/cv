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0"/>
  </p:notesMasterIdLst>
  <p:sldIdLst>
    <p:sldId id="256" r:id="rId2"/>
    <p:sldId id="276" r:id="rId3"/>
    <p:sldId id="258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46" userDrawn="1">
          <p15:clr>
            <a:srgbClr val="A4A3A4"/>
          </p15:clr>
        </p15:guide>
        <p15:guide id="2" orient="horz" pos="3974" userDrawn="1">
          <p15:clr>
            <a:srgbClr val="A4A3A4"/>
          </p15:clr>
        </p15:guide>
        <p15:guide id="3" pos="937" userDrawn="1">
          <p15:clr>
            <a:srgbClr val="A4A3A4"/>
          </p15:clr>
        </p15:guide>
        <p15:guide id="4" pos="6720" userDrawn="1">
          <p15:clr>
            <a:srgbClr val="A4A3A4"/>
          </p15:clr>
        </p15:guide>
        <p15:guide id="5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14" autoAdjust="0"/>
    <p:restoredTop sz="94660"/>
  </p:normalViewPr>
  <p:slideViewPr>
    <p:cSldViewPr snapToGrid="0">
      <p:cViewPr varScale="1">
        <p:scale>
          <a:sx n="159" d="100"/>
          <a:sy n="159" d="100"/>
        </p:scale>
        <p:origin x="306" y="138"/>
      </p:cViewPr>
      <p:guideLst>
        <p:guide orient="horz" pos="346"/>
        <p:guide orient="horz" pos="3974"/>
        <p:guide pos="937"/>
        <p:guide pos="672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B8FABF-92EB-4A28-9D96-EEEDC3A31D40}" type="datetimeFigureOut">
              <a:rPr lang="ru-RU" smtClean="0"/>
              <a:t>17.09.2026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87C420-320D-43F3-8A1E-7EA6D07B5A6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30865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DA4CA74-5891-0962-7F34-2D269883BC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B364628B-ACFC-48BD-994A-A45DD37153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CAB6A32-3498-D97F-C566-BFD3B9D039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DEE1F-2934-495D-856C-8D902092E890}" type="datetime1">
              <a:rPr lang="ru-RU" smtClean="0"/>
              <a:t>17.09.2026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16321E8-D9B6-367F-E84E-51DDB4F6EF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F59484B-4F4B-27E6-B99D-C697E1307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362522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F5D697F-B881-D447-A8A1-3653B7B02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EB53F89-90BF-2629-502D-5931D40665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F6EA5B8-4726-9188-6115-B89106A163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4DE2A-647D-4500-9D2E-502AC02C4614}" type="datetime1">
              <a:rPr lang="ru-RU" smtClean="0"/>
              <a:t>17.09.2026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8B00C1B-CF92-0371-90DB-79F8D564C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A90595D-A75F-CAB5-AE90-E3E07EB49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13870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F0A941C-ACAE-B768-7847-E6775439CE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E1B2D38-00F6-3DFA-E503-F0C09CEAA8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BEFF993-96BC-9FC1-91ED-92777C5619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944451-672F-45F1-88E4-8B4F5094B741}" type="datetime1">
              <a:rPr lang="ru-RU" smtClean="0"/>
              <a:t>17.09.2026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8EF5120-F671-1C1E-3C47-E98D2E581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800AE5C-F751-1159-5464-822147EB99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0504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D389D2C-3651-CAFC-EF50-E83DF2EDB3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1247EC4-6DE9-B843-CAF2-ECE6808F64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E7E96C9-AD9C-F0F3-2E8C-448EA93C82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71F51A0-F82C-0F42-DA6A-C48D9844FD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C36CC5-59D3-433C-92EF-64C02CE878DA}" type="datetime1">
              <a:rPr lang="ru-RU" smtClean="0"/>
              <a:t>17.09.2026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F83A810-3FD3-3810-80CA-B4428307C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CF73FCE-213E-6581-2041-1B43E3B933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946790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8CE52D6-1E2A-DE3E-2D07-2E3639A0FF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A30DD91-D018-EAF1-500D-F8F9F4BF33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BDA85A0B-BEBB-9177-5351-7804EF964F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61C7659-04A4-F62B-7725-6100AA6059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8367E88D-9109-7F25-8154-BFA4446255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26E328C5-8E0E-C1ED-C124-4D6E588538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505CA7-9EF3-40A2-95F2-8EF16B26BE6A}" type="datetime1">
              <a:rPr lang="ru-RU" smtClean="0"/>
              <a:t>17.09.2026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E485F774-367D-382E-36A4-B02393AB6D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6D2816B7-62C6-5A7E-6221-A1C3BFAD79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738217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3992608-AD05-9047-97D8-E93C65FFE0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AF8238BA-2101-77D5-A4A4-FC7194BAF7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169540-2548-477D-A6DA-EDB84F67A50B}" type="datetime1">
              <a:rPr lang="ru-RU" smtClean="0"/>
              <a:t>17.09.2026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AABF0DD2-0F4D-22FB-9506-1208C7DDE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B478D59-A710-67CE-9B76-A263D4B067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92526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558E2444-CD58-EA1B-B50E-CE11C519DD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2C029-194E-49EB-BA02-35756DA27575}" type="datetime1">
              <a:rPr lang="ru-RU" smtClean="0"/>
              <a:t>17.09.2026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F610BB43-416E-C502-0F45-D775BEC015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887ECDD-7BAF-97B9-6CBB-FC6C011F4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911061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E0987DC-2CF0-A417-54B2-EB45847C1C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BBB83F4-BB96-ABA4-D745-BFF31E9D12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8903BE5-A6FD-B9F1-B587-54F7D6F79F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B90B34B-03D1-CB35-F9AE-9676E7561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9CD5A-8A32-448E-8FB6-21BB2461D800}" type="datetime1">
              <a:rPr lang="ru-RU" smtClean="0"/>
              <a:t>17.09.2026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4EEDB42-EF94-B74D-FFE7-AEEBCE6679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9CE31A8-9A03-2ECD-356B-105A2DC529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53009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D9275C9-7E70-5004-7B95-36350E0FE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252B57CA-452A-2A34-7E96-F835183AF1F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9A32018-C8DE-2E14-570A-477764094E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B5C992C-AA87-E56F-BF8D-ACB7934F41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A9BF4E-BA3A-41CB-9559-EB408650D4F0}" type="datetime1">
              <a:rPr lang="ru-RU" smtClean="0"/>
              <a:t>17.09.2026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000FC96-E622-5106-A5AE-813FA528AC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153811D-1610-9287-2708-3EC0E4811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973047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8E11837-011F-931C-53F9-AC857C4D4A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F8E5D3AE-FF19-7B37-DAA8-952CF56443A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972F4D5-4F29-AAA2-D0B8-ED332AE177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A7BD34-D32B-4D72-9CBA-4E8D578FEEE7}" type="datetime1">
              <a:rPr lang="ru-RU" smtClean="0"/>
              <a:t>17.09.2026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2FCD33D-1639-1C28-89A1-B4CD79954D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80FF268-F5B4-B806-9A84-E613BB981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340176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4A6B3C08-346F-3C81-D7C3-470FD0CC6A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FB13B125-F7C1-BA50-74E5-9532D7DB4F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894640D-C2A1-81D1-B46A-EC3CD65DF5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9685BE-6B8F-41F3-A0F2-64C4E49B1807}" type="datetime1">
              <a:rPr lang="ru-RU" smtClean="0"/>
              <a:t>17.09.2026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906C275-6A53-9424-13E9-EDB738B09F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105B914-D3CF-239C-B60A-DA29285D1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250922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10D70B-ECE8-4548-DCA1-2D3D51054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DD11D8A-F8B5-F07E-8C28-BD7E27E8EA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6F890C8-E192-9413-A04C-AF73FBE9A0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3FBBDD-9558-4802-8A3E-66A2C0A2BB66}" type="datetime1">
              <a:rPr lang="ru-RU" smtClean="0"/>
              <a:t>17.09.2026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5482FD1-0430-A04B-58D3-01321D4669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547C9A9-A8A9-77B5-50C8-66103CF770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9A371D6-626E-4711-87E0-599E0F8A4C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996558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2.png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AFD6347-2948-828C-BECF-D54422C54C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87488" y="2239002"/>
            <a:ext cx="9180512" cy="2047248"/>
          </a:xfrm>
        </p:spPr>
        <p:txBody>
          <a:bodyPr anchor="ctr">
            <a:noAutofit/>
          </a:bodyPr>
          <a:lstStyle/>
          <a:p>
            <a:r>
              <a:rPr lang="ru-RU" sz="4500" dirty="0"/>
              <a:t>Практическая работа №1:</a:t>
            </a:r>
            <a:br>
              <a:rPr lang="ru-RU" sz="4500" dirty="0"/>
            </a:br>
            <a:r>
              <a:rPr lang="ru-RU" sz="4500" b="1" dirty="0"/>
              <a:t>Основы работы с изображениями и цветовые модели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D71C6DBC-CA8F-F90E-3B35-57B4F6F4A0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87488" y="4286250"/>
            <a:ext cx="9180512" cy="404478"/>
          </a:xfrm>
        </p:spPr>
        <p:txBody>
          <a:bodyPr anchor="ctr">
            <a:normAutofit lnSpcReduction="10000"/>
          </a:bodyPr>
          <a:lstStyle/>
          <a:p>
            <a:r>
              <a:rPr lang="ru-RU" dirty="0"/>
              <a:t>Вариант №3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F5BA5D-C693-EE1D-CB03-23984F88CBB5}"/>
              </a:ext>
            </a:extLst>
          </p:cNvPr>
          <p:cNvSpPr txBox="1"/>
          <p:nvPr/>
        </p:nvSpPr>
        <p:spPr>
          <a:xfrm>
            <a:off x="7972926" y="5354618"/>
            <a:ext cx="269507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1400" dirty="0"/>
              <a:t>Работу выполнили:</a:t>
            </a:r>
            <a:br>
              <a:rPr lang="ru-RU" sz="1400" dirty="0"/>
            </a:br>
            <a:r>
              <a:rPr lang="ru-RU" sz="1400" dirty="0"/>
              <a:t>студенты 932302 группы</a:t>
            </a:r>
            <a:br>
              <a:rPr lang="ru-RU" sz="1400" dirty="0"/>
            </a:br>
            <a:r>
              <a:rPr lang="ru-RU" sz="1400" dirty="0"/>
              <a:t>Акрамов </a:t>
            </a:r>
            <a:r>
              <a:rPr lang="ru-RU" sz="1400" dirty="0" err="1"/>
              <a:t>Темирлан</a:t>
            </a:r>
            <a:r>
              <a:rPr lang="ru-RU" sz="1400" dirty="0"/>
              <a:t>,</a:t>
            </a:r>
            <a:br>
              <a:rPr lang="ru-RU" sz="1400" dirty="0"/>
            </a:br>
            <a:r>
              <a:rPr lang="ru-RU" sz="1400" dirty="0"/>
              <a:t>Гуров Иван</a:t>
            </a:r>
          </a:p>
        </p:txBody>
      </p:sp>
    </p:spTree>
    <p:extLst>
      <p:ext uri="{BB962C8B-B14F-4D97-AF65-F5344CB8AC3E}">
        <p14:creationId xmlns:p14="http://schemas.microsoft.com/office/powerpoint/2010/main" val="6882846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41B6E55-C1E7-22C7-FFCB-604BB72C480D}"/>
              </a:ext>
            </a:extLst>
          </p:cNvPr>
          <p:cNvSpPr txBox="1"/>
          <p:nvPr/>
        </p:nvSpPr>
        <p:spPr>
          <a:xfrm>
            <a:off x="1485899" y="565739"/>
            <a:ext cx="9212778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800" b="1" dirty="0">
                <a:latin typeface="+mj-lt"/>
              </a:rPr>
              <a:t>Подготовка к работе: импорт библиотек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1F5B869-FCA3-91D3-678D-F5E5BE3D9772}"/>
              </a:ext>
            </a:extLst>
          </p:cNvPr>
          <p:cNvSpPr txBox="1"/>
          <p:nvPr/>
        </p:nvSpPr>
        <p:spPr>
          <a:xfrm>
            <a:off x="1485899" y="1387094"/>
            <a:ext cx="9182101" cy="101566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000" dirty="0"/>
              <a:t>Импортируем необходимые для работы библиотеки </a:t>
            </a:r>
            <a:r>
              <a:rPr lang="en-US" sz="2000" dirty="0" err="1"/>
              <a:t>Numpy</a:t>
            </a:r>
            <a:r>
              <a:rPr lang="en-US" sz="2000" dirty="0"/>
              <a:t>, OpenCV, </a:t>
            </a:r>
            <a:r>
              <a:rPr lang="en-US" sz="2000" dirty="0" err="1"/>
              <a:t>Pyplot</a:t>
            </a:r>
            <a:r>
              <a:rPr lang="en-US" sz="2000" dirty="0"/>
              <a:t> </a:t>
            </a:r>
            <a:r>
              <a:rPr lang="ru-RU" sz="2000" dirty="0"/>
              <a:t>и определяем вспомогательную функцию для отображения картинок на выводе.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C569071-A5F8-E7C9-1DC2-DF3EA9F88597}"/>
              </a:ext>
            </a:extLst>
          </p:cNvPr>
          <p:cNvSpPr txBox="1"/>
          <p:nvPr/>
        </p:nvSpPr>
        <p:spPr>
          <a:xfrm>
            <a:off x="3994084" y="2700892"/>
            <a:ext cx="4203831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b="1" dirty="0"/>
              <a:t>Код: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024ECB0-4347-288D-3116-357235DC7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2</a:t>
            </a:fld>
            <a:endParaRPr lang="ru-RU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91C1D47-8E20-760E-5B2A-465A63CE84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4084" y="3070224"/>
            <a:ext cx="4203831" cy="2400681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738DFBA8-B075-C2B1-D7A9-5ECAC67E74A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717" r="43573"/>
          <a:stretch/>
        </p:blipFill>
        <p:spPr>
          <a:xfrm>
            <a:off x="3986656" y="5470904"/>
            <a:ext cx="4211259" cy="843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47358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41B6E55-C1E7-22C7-FFCB-604BB72C480D}"/>
              </a:ext>
            </a:extLst>
          </p:cNvPr>
          <p:cNvSpPr txBox="1"/>
          <p:nvPr/>
        </p:nvSpPr>
        <p:spPr>
          <a:xfrm>
            <a:off x="1485899" y="565739"/>
            <a:ext cx="9212778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800" b="1" dirty="0">
                <a:latin typeface="+mj-lt"/>
              </a:rPr>
              <a:t>Задание 1. Загрузить цветное изображение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1F5B869-FCA3-91D3-678D-F5E5BE3D9772}"/>
              </a:ext>
            </a:extLst>
          </p:cNvPr>
          <p:cNvSpPr txBox="1"/>
          <p:nvPr/>
        </p:nvSpPr>
        <p:spPr>
          <a:xfrm>
            <a:off x="1485899" y="1540983"/>
            <a:ext cx="9212779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000" dirty="0"/>
              <a:t>Суть задания: считывание файла с диска и представление изображения в виде трёхмерной матрицы чисел в цветовой модели BGR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C569071-A5F8-E7C9-1DC2-DF3EA9F88597}"/>
              </a:ext>
            </a:extLst>
          </p:cNvPr>
          <p:cNvSpPr txBox="1"/>
          <p:nvPr/>
        </p:nvSpPr>
        <p:spPr>
          <a:xfrm>
            <a:off x="1493321" y="2700893"/>
            <a:ext cx="4203831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b="1" dirty="0"/>
              <a:t>Код: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652C659-39B1-B693-6C90-EC889EECEA23}"/>
              </a:ext>
            </a:extLst>
          </p:cNvPr>
          <p:cNvSpPr txBox="1"/>
          <p:nvPr/>
        </p:nvSpPr>
        <p:spPr>
          <a:xfrm>
            <a:off x="6088579" y="2700893"/>
            <a:ext cx="46101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b="1" dirty="0"/>
              <a:t>Вывод:</a:t>
            </a:r>
          </a:p>
        </p:txBody>
      </p:sp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42E46308-EE73-99FB-4EC5-447659A2F3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8579" y="3070225"/>
            <a:ext cx="4579421" cy="3238500"/>
          </a:xfrm>
          <a:prstGeom prst="rect">
            <a:avLst/>
          </a:prstGeom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AD82592F-C9E4-8993-8390-BF5295771C1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7280"/>
          <a:stretch/>
        </p:blipFill>
        <p:spPr>
          <a:xfrm>
            <a:off x="1485899" y="4413948"/>
            <a:ext cx="4209527" cy="1894777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777C412D-6EBA-0A0C-742A-B854CC94F19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0904"/>
          <a:stretch/>
        </p:blipFill>
        <p:spPr>
          <a:xfrm>
            <a:off x="1485899" y="3070225"/>
            <a:ext cx="4203831" cy="1298014"/>
          </a:xfrm>
          <a:prstGeom prst="rect">
            <a:avLst/>
          </a:prstGeom>
        </p:spPr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024ECB0-4347-288D-3116-357235DC7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340630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41B6E55-C1E7-22C7-FFCB-604BB72C480D}"/>
              </a:ext>
            </a:extLst>
          </p:cNvPr>
          <p:cNvSpPr txBox="1"/>
          <p:nvPr/>
        </p:nvSpPr>
        <p:spPr>
          <a:xfrm>
            <a:off x="1482190" y="549275"/>
            <a:ext cx="9212778" cy="138499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800" b="1" dirty="0">
                <a:latin typeface="+mj-lt"/>
              </a:rPr>
              <a:t>Задание 2. Преобразовать изображение в градации серого и вывести минимальное и максимальное значение пикселей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1F5B869-FCA3-91D3-678D-F5E5BE3D9772}"/>
              </a:ext>
            </a:extLst>
          </p:cNvPr>
          <p:cNvSpPr txBox="1"/>
          <p:nvPr/>
        </p:nvSpPr>
        <p:spPr>
          <a:xfrm>
            <a:off x="1482189" y="1963638"/>
            <a:ext cx="9212779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000" dirty="0"/>
              <a:t>Суть задания: снижение размерности данных с трёх каналов до одного (яркостного) и оценка динамического диапазона освещённости сцены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C569071-A5F8-E7C9-1DC2-DF3EA9F88597}"/>
              </a:ext>
            </a:extLst>
          </p:cNvPr>
          <p:cNvSpPr txBox="1"/>
          <p:nvPr/>
        </p:nvSpPr>
        <p:spPr>
          <a:xfrm>
            <a:off x="1485900" y="2700893"/>
            <a:ext cx="4173803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b="1" dirty="0"/>
              <a:t>Код: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652C659-39B1-B693-6C90-EC889EECEA23}"/>
              </a:ext>
            </a:extLst>
          </p:cNvPr>
          <p:cNvSpPr txBox="1"/>
          <p:nvPr/>
        </p:nvSpPr>
        <p:spPr>
          <a:xfrm>
            <a:off x="6088579" y="2700893"/>
            <a:ext cx="46101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b="1" dirty="0"/>
              <a:t>Вывод: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615BDC36-B520-D97F-328F-8FE1B14AA8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2189" y="3070225"/>
            <a:ext cx="4177514" cy="220766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9982C5E-5066-C92A-69EA-FF15E6514E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900" y="5647217"/>
            <a:ext cx="4173803" cy="66150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5EF9D50-7263-2AE5-281E-5AE59038C9F9}"/>
              </a:ext>
            </a:extLst>
          </p:cNvPr>
          <p:cNvSpPr txBox="1"/>
          <p:nvPr/>
        </p:nvSpPr>
        <p:spPr>
          <a:xfrm>
            <a:off x="1482189" y="5277885"/>
            <a:ext cx="4173803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b="1" dirty="0"/>
              <a:t>Терминал: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14C42DD7-4A1B-907C-90BC-805F77349D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4868" y="3070225"/>
            <a:ext cx="4583132" cy="3238500"/>
          </a:xfrm>
          <a:prstGeom prst="rect">
            <a:avLst/>
          </a:prstGeom>
        </p:spPr>
      </p:pic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E68AB01A-8F4E-E197-5EE4-ADA4BA8CC9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125955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41B6E55-C1E7-22C7-FFCB-604BB72C480D}"/>
              </a:ext>
            </a:extLst>
          </p:cNvPr>
          <p:cNvSpPr txBox="1"/>
          <p:nvPr/>
        </p:nvSpPr>
        <p:spPr>
          <a:xfrm>
            <a:off x="1482190" y="549275"/>
            <a:ext cx="9185810" cy="9541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800" b="1" dirty="0">
                <a:latin typeface="+mj-lt"/>
              </a:rPr>
              <a:t>Задание 3. Преобразовать изображение в </a:t>
            </a:r>
            <a:r>
              <a:rPr lang="ru-RU" sz="2800" b="1" dirty="0" err="1">
                <a:latin typeface="+mj-lt"/>
              </a:rPr>
              <a:t>YCrCb</a:t>
            </a:r>
            <a:r>
              <a:rPr lang="ru-RU" sz="2800" b="1" dirty="0">
                <a:latin typeface="+mj-lt"/>
              </a:rPr>
              <a:t> и вывести отдельные каналы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C569071-A5F8-E7C9-1DC2-DF3EA9F88597}"/>
              </a:ext>
            </a:extLst>
          </p:cNvPr>
          <p:cNvSpPr txBox="1"/>
          <p:nvPr/>
        </p:nvSpPr>
        <p:spPr>
          <a:xfrm>
            <a:off x="1485900" y="2700893"/>
            <a:ext cx="4173803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b="1" dirty="0"/>
              <a:t>Код: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652C659-39B1-B693-6C90-EC889EECEA23}"/>
              </a:ext>
            </a:extLst>
          </p:cNvPr>
          <p:cNvSpPr txBox="1"/>
          <p:nvPr/>
        </p:nvSpPr>
        <p:spPr>
          <a:xfrm>
            <a:off x="6057900" y="2703199"/>
            <a:ext cx="46101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b="1" dirty="0"/>
              <a:t>Вывод: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C113972E-B628-2140-FDB2-37D962BD460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9357"/>
          <a:stretch/>
        </p:blipFill>
        <p:spPr>
          <a:xfrm>
            <a:off x="6095999" y="3066902"/>
            <a:ext cx="4572000" cy="3241823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47E70602-039E-5B0E-9198-712C025B25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7488" y="3066902"/>
            <a:ext cx="4172215" cy="324182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E081176-D1EE-00B4-D512-DF4558557F77}"/>
              </a:ext>
            </a:extLst>
          </p:cNvPr>
          <p:cNvSpPr txBox="1"/>
          <p:nvPr/>
        </p:nvSpPr>
        <p:spPr>
          <a:xfrm>
            <a:off x="1489610" y="1747042"/>
            <a:ext cx="9212779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000" dirty="0"/>
              <a:t>Суть задания: разделение визуальной информации на яркостную составляющую </a:t>
            </a:r>
            <a:r>
              <a:rPr lang="en-US" sz="2000" dirty="0"/>
              <a:t>(Y) </a:t>
            </a:r>
            <a:r>
              <a:rPr lang="ru-RU" sz="2000" dirty="0"/>
              <a:t>и две цветоразностные </a:t>
            </a:r>
            <a:r>
              <a:rPr lang="en-US" sz="2000" dirty="0"/>
              <a:t>(Cr, </a:t>
            </a:r>
            <a:r>
              <a:rPr lang="en-US" sz="2000" dirty="0" err="1"/>
              <a:t>Cb</a:t>
            </a:r>
            <a:r>
              <a:rPr lang="en-US" sz="2000" dirty="0"/>
              <a:t>)</a:t>
            </a:r>
            <a:endParaRPr lang="ru-RU" sz="2000" dirty="0"/>
          </a:p>
        </p:txBody>
      </p:sp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684D501B-E133-D9A8-6B7A-D563CF6B5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903174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71F5B869-FCA3-91D3-678D-F5E5BE3D9772}"/>
              </a:ext>
            </a:extLst>
          </p:cNvPr>
          <p:cNvSpPr txBox="1"/>
          <p:nvPr/>
        </p:nvSpPr>
        <p:spPr>
          <a:xfrm>
            <a:off x="1489610" y="1747042"/>
            <a:ext cx="9212779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000" dirty="0"/>
              <a:t>Суть задания: разделение визуальной информации на яркостную составляющую </a:t>
            </a:r>
            <a:r>
              <a:rPr lang="en-US" sz="2000" dirty="0"/>
              <a:t>(Y) </a:t>
            </a:r>
            <a:r>
              <a:rPr lang="ru-RU" sz="2000" dirty="0"/>
              <a:t>и две цветоразностные </a:t>
            </a:r>
            <a:r>
              <a:rPr lang="en-US" sz="2000" dirty="0"/>
              <a:t>(Cr, </a:t>
            </a:r>
            <a:r>
              <a:rPr lang="en-US" sz="2000" dirty="0" err="1"/>
              <a:t>Cb</a:t>
            </a:r>
            <a:r>
              <a:rPr lang="en-US" sz="2000" dirty="0"/>
              <a:t>)</a:t>
            </a:r>
            <a:endParaRPr lang="ru-RU" sz="2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C569071-A5F8-E7C9-1DC2-DF3EA9F88597}"/>
              </a:ext>
            </a:extLst>
          </p:cNvPr>
          <p:cNvSpPr txBox="1"/>
          <p:nvPr/>
        </p:nvSpPr>
        <p:spPr>
          <a:xfrm>
            <a:off x="1485900" y="2700893"/>
            <a:ext cx="417221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b="1" dirty="0"/>
              <a:t>Код: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652C659-39B1-B693-6C90-EC889EECEA23}"/>
              </a:ext>
            </a:extLst>
          </p:cNvPr>
          <p:cNvSpPr txBox="1"/>
          <p:nvPr/>
        </p:nvSpPr>
        <p:spPr>
          <a:xfrm>
            <a:off x="6057900" y="2703199"/>
            <a:ext cx="46101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b="1" dirty="0"/>
              <a:t>Вывод: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C113972E-B628-2140-FDB2-37D962BD460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694" r="34663"/>
          <a:stretch/>
        </p:blipFill>
        <p:spPr>
          <a:xfrm>
            <a:off x="6096001" y="3066902"/>
            <a:ext cx="4572000" cy="3241823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F619218-ACB6-C2D4-CBA2-18ACD378B1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7488" y="3066902"/>
            <a:ext cx="4172215" cy="324182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2A0700A-D1A3-CABA-8257-0049F29CEB91}"/>
              </a:ext>
            </a:extLst>
          </p:cNvPr>
          <p:cNvSpPr txBox="1"/>
          <p:nvPr/>
        </p:nvSpPr>
        <p:spPr>
          <a:xfrm>
            <a:off x="1482190" y="549275"/>
            <a:ext cx="9185810" cy="9541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800" b="1" dirty="0">
                <a:latin typeface="+mj-lt"/>
              </a:rPr>
              <a:t>Задание 3. Преобразовать изображение в </a:t>
            </a:r>
            <a:r>
              <a:rPr lang="ru-RU" sz="2800" b="1" dirty="0" err="1">
                <a:latin typeface="+mj-lt"/>
              </a:rPr>
              <a:t>YCrCb</a:t>
            </a:r>
            <a:r>
              <a:rPr lang="ru-RU" sz="2800" b="1" dirty="0">
                <a:latin typeface="+mj-lt"/>
              </a:rPr>
              <a:t> и вывести отдельные каналы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6D7BD2D-450B-9072-1CC3-235F616A2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ru-RU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1056141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>
            <a:extLst>
              <a:ext uri="{FF2B5EF4-FFF2-40B4-BE49-F238E27FC236}">
                <a16:creationId xmlns:a16="http://schemas.microsoft.com/office/drawing/2014/main" id="{0C569071-A5F8-E7C9-1DC2-DF3EA9F88597}"/>
              </a:ext>
            </a:extLst>
          </p:cNvPr>
          <p:cNvSpPr txBox="1"/>
          <p:nvPr/>
        </p:nvSpPr>
        <p:spPr>
          <a:xfrm>
            <a:off x="1485900" y="2700893"/>
            <a:ext cx="417221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b="1" dirty="0"/>
              <a:t>Код: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652C659-39B1-B693-6C90-EC889EECEA23}"/>
              </a:ext>
            </a:extLst>
          </p:cNvPr>
          <p:cNvSpPr txBox="1"/>
          <p:nvPr/>
        </p:nvSpPr>
        <p:spPr>
          <a:xfrm>
            <a:off x="6057900" y="2703199"/>
            <a:ext cx="46101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b="1" dirty="0"/>
              <a:t>Вывод: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C113972E-B628-2140-FDB2-37D962BD460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9357"/>
          <a:stretch/>
        </p:blipFill>
        <p:spPr>
          <a:xfrm>
            <a:off x="6096001" y="3066902"/>
            <a:ext cx="4572000" cy="3241823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62A65E3-D5D4-3AF9-E35A-543011D05E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7488" y="3066902"/>
            <a:ext cx="4170627" cy="324182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1717830-3824-984A-0FE8-3764A8CCF5E4}"/>
              </a:ext>
            </a:extLst>
          </p:cNvPr>
          <p:cNvSpPr txBox="1"/>
          <p:nvPr/>
        </p:nvSpPr>
        <p:spPr>
          <a:xfrm>
            <a:off x="1482190" y="549275"/>
            <a:ext cx="9185810" cy="9541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800" b="1" dirty="0">
                <a:latin typeface="+mj-lt"/>
              </a:rPr>
              <a:t>Задание 3. Преобразовать изображение в </a:t>
            </a:r>
            <a:r>
              <a:rPr lang="ru-RU" sz="2800" b="1" dirty="0" err="1">
                <a:latin typeface="+mj-lt"/>
              </a:rPr>
              <a:t>YCrCb</a:t>
            </a:r>
            <a:r>
              <a:rPr lang="ru-RU" sz="2800" b="1" dirty="0">
                <a:latin typeface="+mj-lt"/>
              </a:rPr>
              <a:t> и вывести отдельные каналы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F1F59B-B0EE-8AD8-BE35-7EF5C2451747}"/>
              </a:ext>
            </a:extLst>
          </p:cNvPr>
          <p:cNvSpPr txBox="1"/>
          <p:nvPr/>
        </p:nvSpPr>
        <p:spPr>
          <a:xfrm>
            <a:off x="1489610" y="1747042"/>
            <a:ext cx="9212779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000" dirty="0"/>
              <a:t>Суть задания: разделение визуальной информации на яркостную составляющую </a:t>
            </a:r>
            <a:r>
              <a:rPr lang="en-US" sz="2000" dirty="0"/>
              <a:t>(Y) </a:t>
            </a:r>
            <a:r>
              <a:rPr lang="ru-RU" sz="2000" dirty="0"/>
              <a:t>и две цветоразностные </a:t>
            </a:r>
            <a:r>
              <a:rPr lang="en-US" sz="2000" dirty="0"/>
              <a:t>(Cr, </a:t>
            </a:r>
            <a:r>
              <a:rPr lang="en-US" sz="2000" dirty="0" err="1"/>
              <a:t>Cb</a:t>
            </a:r>
            <a:r>
              <a:rPr lang="en-US" sz="2000" dirty="0"/>
              <a:t>)</a:t>
            </a:r>
            <a:endParaRPr lang="ru-RU" sz="2000" dirty="0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9F13964B-87DF-AA68-A2E5-441A8684E7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ru-RU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2930658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41B6E55-C1E7-22C7-FFCB-604BB72C480D}"/>
              </a:ext>
            </a:extLst>
          </p:cNvPr>
          <p:cNvSpPr txBox="1"/>
          <p:nvPr/>
        </p:nvSpPr>
        <p:spPr>
          <a:xfrm>
            <a:off x="1485899" y="549275"/>
            <a:ext cx="9182101" cy="9541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800" b="1" dirty="0">
                <a:latin typeface="+mj-lt"/>
              </a:rPr>
              <a:t>Задание </a:t>
            </a:r>
            <a:r>
              <a:rPr lang="en-US" sz="2800" b="1" dirty="0">
                <a:latin typeface="+mj-lt"/>
              </a:rPr>
              <a:t>4</a:t>
            </a:r>
            <a:r>
              <a:rPr lang="ru-RU" sz="2800" b="1" dirty="0">
                <a:latin typeface="+mj-lt"/>
              </a:rPr>
              <a:t>. Сделать инверсию цвета (отнять каждый канал от 255) и сохранить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1F5B869-FCA3-91D3-678D-F5E5BE3D9772}"/>
              </a:ext>
            </a:extLst>
          </p:cNvPr>
          <p:cNvSpPr txBox="1"/>
          <p:nvPr/>
        </p:nvSpPr>
        <p:spPr>
          <a:xfrm>
            <a:off x="1485898" y="1748194"/>
            <a:ext cx="9182101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000" dirty="0"/>
              <a:t>Суть задания: базовая арифметика над пикселями для создания эффекта фотонегатива с последующей записью результата в файл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C569071-A5F8-E7C9-1DC2-DF3EA9F88597}"/>
              </a:ext>
            </a:extLst>
          </p:cNvPr>
          <p:cNvSpPr txBox="1"/>
          <p:nvPr/>
        </p:nvSpPr>
        <p:spPr>
          <a:xfrm>
            <a:off x="1493321" y="2700893"/>
            <a:ext cx="4203831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b="1" dirty="0"/>
              <a:t>Код: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652C659-39B1-B693-6C90-EC889EECEA23}"/>
              </a:ext>
            </a:extLst>
          </p:cNvPr>
          <p:cNvSpPr txBox="1"/>
          <p:nvPr/>
        </p:nvSpPr>
        <p:spPr>
          <a:xfrm>
            <a:off x="6088579" y="2700893"/>
            <a:ext cx="4579421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b="1" dirty="0"/>
              <a:t>Вывод: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0D62C63-7E4A-DB3A-D1DA-6C1F67A82D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3321" y="3070225"/>
            <a:ext cx="4198626" cy="205740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1BAFD52-FD1D-DE60-1127-6A92B33A0DC3}"/>
              </a:ext>
            </a:extLst>
          </p:cNvPr>
          <p:cNvSpPr txBox="1"/>
          <p:nvPr/>
        </p:nvSpPr>
        <p:spPr>
          <a:xfrm>
            <a:off x="1487924" y="5127626"/>
            <a:ext cx="418749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b="1" dirty="0"/>
              <a:t>Терминал: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C8ED8086-B24C-14DA-63C6-F1AE2A3C78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2090" y="5496958"/>
            <a:ext cx="4198627" cy="811767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4195B9F1-4E12-06B4-9B28-378AFE1198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5999" y="3070225"/>
            <a:ext cx="4571999" cy="3238500"/>
          </a:xfrm>
          <a:prstGeom prst="rect">
            <a:avLst/>
          </a:prstGeom>
        </p:spPr>
      </p:pic>
      <p:sp>
        <p:nvSpPr>
          <p:cNvPr id="12" name="Номер слайда 11">
            <a:extLst>
              <a:ext uri="{FF2B5EF4-FFF2-40B4-BE49-F238E27FC236}">
                <a16:creationId xmlns:a16="http://schemas.microsoft.com/office/drawing/2014/main" id="{71994455-97A7-E93D-030B-CD5AE525C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ru-RU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5247189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41B6E55-C1E7-22C7-FFCB-604BB72C480D}"/>
              </a:ext>
            </a:extLst>
          </p:cNvPr>
          <p:cNvSpPr txBox="1"/>
          <p:nvPr/>
        </p:nvSpPr>
        <p:spPr>
          <a:xfrm>
            <a:off x="1485899" y="549275"/>
            <a:ext cx="9182101" cy="9541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800" b="1" dirty="0">
                <a:latin typeface="+mj-lt"/>
              </a:rPr>
              <a:t>Задание 5. Нарисовать прямоугольник на изображении красного цвета вокруг центральной области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1F5B869-FCA3-91D3-678D-F5E5BE3D9772}"/>
              </a:ext>
            </a:extLst>
          </p:cNvPr>
          <p:cNvSpPr txBox="1"/>
          <p:nvPr/>
        </p:nvSpPr>
        <p:spPr>
          <a:xfrm>
            <a:off x="1485898" y="1748194"/>
            <a:ext cx="9182101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000" dirty="0"/>
              <a:t>Суть задания: создание базовой фигуры поверх изображения, чтобы визуально выделить нужный объект или зону в кадре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C569071-A5F8-E7C9-1DC2-DF3EA9F88597}"/>
              </a:ext>
            </a:extLst>
          </p:cNvPr>
          <p:cNvSpPr txBox="1"/>
          <p:nvPr/>
        </p:nvSpPr>
        <p:spPr>
          <a:xfrm>
            <a:off x="1493321" y="2700893"/>
            <a:ext cx="4203831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b="1" dirty="0"/>
              <a:t>Код: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652C659-39B1-B693-6C90-EC889EECEA23}"/>
              </a:ext>
            </a:extLst>
          </p:cNvPr>
          <p:cNvSpPr txBox="1"/>
          <p:nvPr/>
        </p:nvSpPr>
        <p:spPr>
          <a:xfrm>
            <a:off x="6095999" y="2700893"/>
            <a:ext cx="4572001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b="1" dirty="0"/>
              <a:t>Вывод: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8B885C84-0310-1981-BE5D-B7D29D815D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3321" y="3070225"/>
            <a:ext cx="4203831" cy="32385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01833D7F-3192-F23D-48D2-6FA718D6B9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99" y="3070225"/>
            <a:ext cx="4571999" cy="3238500"/>
          </a:xfrm>
          <a:prstGeom prst="rect">
            <a:avLst/>
          </a:prstGeom>
        </p:spPr>
      </p:pic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5BC0F6DC-C57A-85A1-45B1-DE410A358B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ru-RU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41860034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41B6E55-C1E7-22C7-FFCB-604BB72C480D}"/>
              </a:ext>
            </a:extLst>
          </p:cNvPr>
          <p:cNvSpPr txBox="1"/>
          <p:nvPr/>
        </p:nvSpPr>
        <p:spPr>
          <a:xfrm>
            <a:off x="1485899" y="549275"/>
            <a:ext cx="9182101" cy="9541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800" b="1" dirty="0">
                <a:latin typeface="+mj-lt"/>
              </a:rPr>
              <a:t>Задание 6. Отразить изображение по горизонтали, по вертикали и по обеим осям сразу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1F5B869-FCA3-91D3-678D-F5E5BE3D9772}"/>
              </a:ext>
            </a:extLst>
          </p:cNvPr>
          <p:cNvSpPr txBox="1"/>
          <p:nvPr/>
        </p:nvSpPr>
        <p:spPr>
          <a:xfrm>
            <a:off x="1485897" y="1594306"/>
            <a:ext cx="9182101" cy="101566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000" dirty="0"/>
              <a:t>Суть задания: зеркальный переворот картинки в разные стороны (вверх ногами, слева направо и наискосок) с помощью изменения порядка строк и столбцов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C569071-A5F8-E7C9-1DC2-DF3EA9F88597}"/>
              </a:ext>
            </a:extLst>
          </p:cNvPr>
          <p:cNvSpPr txBox="1"/>
          <p:nvPr/>
        </p:nvSpPr>
        <p:spPr>
          <a:xfrm>
            <a:off x="1493321" y="2700893"/>
            <a:ext cx="4203831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b="1" dirty="0"/>
              <a:t>Код: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652C659-39B1-B693-6C90-EC889EECEA23}"/>
              </a:ext>
            </a:extLst>
          </p:cNvPr>
          <p:cNvSpPr txBox="1"/>
          <p:nvPr/>
        </p:nvSpPr>
        <p:spPr>
          <a:xfrm>
            <a:off x="6095999" y="2700893"/>
            <a:ext cx="4572001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b="1" dirty="0"/>
              <a:t>Вывод: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A8DB5022-9FD0-6730-BB27-D222EF1102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897" y="3070225"/>
            <a:ext cx="4211255" cy="323850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168F4517-3BA1-84B9-B301-FB76E61E6A7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9447"/>
          <a:stretch/>
        </p:blipFill>
        <p:spPr>
          <a:xfrm>
            <a:off x="6095999" y="3070225"/>
            <a:ext cx="4571999" cy="3238500"/>
          </a:xfrm>
          <a:prstGeom prst="rect">
            <a:avLst/>
          </a:prstGeom>
        </p:spPr>
      </p:pic>
      <p:sp>
        <p:nvSpPr>
          <p:cNvPr id="12" name="Номер слайда 11">
            <a:extLst>
              <a:ext uri="{FF2B5EF4-FFF2-40B4-BE49-F238E27FC236}">
                <a16:creationId xmlns:a16="http://schemas.microsoft.com/office/drawing/2014/main" id="{F336EB0A-49A1-F94D-4617-C84D35BD1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ru-RU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0379620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41B6E55-C1E7-22C7-FFCB-604BB72C480D}"/>
              </a:ext>
            </a:extLst>
          </p:cNvPr>
          <p:cNvSpPr txBox="1"/>
          <p:nvPr/>
        </p:nvSpPr>
        <p:spPr>
          <a:xfrm>
            <a:off x="1485899" y="549275"/>
            <a:ext cx="9182101" cy="9541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800" b="1" dirty="0">
                <a:latin typeface="+mj-lt"/>
              </a:rPr>
              <a:t>Задание 6. Отразить изображение по горизонтали, по вертикали и по обеим осям сразу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1F5B869-FCA3-91D3-678D-F5E5BE3D9772}"/>
              </a:ext>
            </a:extLst>
          </p:cNvPr>
          <p:cNvSpPr txBox="1"/>
          <p:nvPr/>
        </p:nvSpPr>
        <p:spPr>
          <a:xfrm>
            <a:off x="1485897" y="1594306"/>
            <a:ext cx="9182101" cy="101566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000" dirty="0"/>
              <a:t>Суть задания: зеркальный переворот картинки в разные стороны (вверх ногами, слева направо и наискосок) с помощью изменения порядка строк и столбцов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C569071-A5F8-E7C9-1DC2-DF3EA9F88597}"/>
              </a:ext>
            </a:extLst>
          </p:cNvPr>
          <p:cNvSpPr txBox="1"/>
          <p:nvPr/>
        </p:nvSpPr>
        <p:spPr>
          <a:xfrm>
            <a:off x="1493321" y="2700893"/>
            <a:ext cx="4203831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b="1" dirty="0"/>
              <a:t>Код: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652C659-39B1-B693-6C90-EC889EECEA23}"/>
              </a:ext>
            </a:extLst>
          </p:cNvPr>
          <p:cNvSpPr txBox="1"/>
          <p:nvPr/>
        </p:nvSpPr>
        <p:spPr>
          <a:xfrm>
            <a:off x="6095999" y="2700893"/>
            <a:ext cx="4572001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b="1" dirty="0"/>
              <a:t>Вывод: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168F4517-3BA1-84B9-B301-FB76E61E6A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723" t="79" r="34723" b="-79"/>
          <a:stretch/>
        </p:blipFill>
        <p:spPr>
          <a:xfrm>
            <a:off x="6095999" y="3070225"/>
            <a:ext cx="4571999" cy="3238500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13A03B6-2295-028A-19DF-D6D5CC917F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3321" y="3070225"/>
            <a:ext cx="4203831" cy="3238500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3467423-826C-36D0-76F5-5DE7BFA0D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ru-RU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9665891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41B6E55-C1E7-22C7-FFCB-604BB72C480D}"/>
              </a:ext>
            </a:extLst>
          </p:cNvPr>
          <p:cNvSpPr txBox="1"/>
          <p:nvPr/>
        </p:nvSpPr>
        <p:spPr>
          <a:xfrm>
            <a:off x="1485899" y="549275"/>
            <a:ext cx="9182101" cy="9541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800" b="1" dirty="0">
                <a:latin typeface="+mj-lt"/>
              </a:rPr>
              <a:t>Задание 6. Отразить изображение по горизонтали, по вертикали и по обеим осям сразу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1F5B869-FCA3-91D3-678D-F5E5BE3D9772}"/>
              </a:ext>
            </a:extLst>
          </p:cNvPr>
          <p:cNvSpPr txBox="1"/>
          <p:nvPr/>
        </p:nvSpPr>
        <p:spPr>
          <a:xfrm>
            <a:off x="1485897" y="1594306"/>
            <a:ext cx="9182101" cy="101566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000" dirty="0"/>
              <a:t>Суть задания: зеркальный переворот картинки в разные стороны (вверх ногами, слева направо и наискосок) с помощью изменения порядка строк и столбцов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C569071-A5F8-E7C9-1DC2-DF3EA9F88597}"/>
              </a:ext>
            </a:extLst>
          </p:cNvPr>
          <p:cNvSpPr txBox="1"/>
          <p:nvPr/>
        </p:nvSpPr>
        <p:spPr>
          <a:xfrm>
            <a:off x="1493321" y="2700893"/>
            <a:ext cx="4203831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b="1" dirty="0"/>
              <a:t>Код: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652C659-39B1-B693-6C90-EC889EECEA23}"/>
              </a:ext>
            </a:extLst>
          </p:cNvPr>
          <p:cNvSpPr txBox="1"/>
          <p:nvPr/>
        </p:nvSpPr>
        <p:spPr>
          <a:xfrm>
            <a:off x="6095999" y="2700893"/>
            <a:ext cx="4572001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b="1" dirty="0"/>
              <a:t>Вывод: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168F4517-3BA1-84B9-B301-FB76E61E6A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9446"/>
          <a:stretch/>
        </p:blipFill>
        <p:spPr>
          <a:xfrm>
            <a:off x="6095999" y="3070225"/>
            <a:ext cx="4571999" cy="323850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E79B09B-306E-F2DA-8344-CADE2E62BA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897" y="3070225"/>
            <a:ext cx="4211255" cy="3238500"/>
          </a:xfrm>
          <a:prstGeom prst="rect">
            <a:avLst/>
          </a:prstGeom>
        </p:spPr>
      </p:pic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3C290A2-9444-B917-EDC3-1E0F8E8CF2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ru-RU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9563977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41B6E55-C1E7-22C7-FFCB-604BB72C480D}"/>
              </a:ext>
            </a:extLst>
          </p:cNvPr>
          <p:cNvSpPr txBox="1"/>
          <p:nvPr/>
        </p:nvSpPr>
        <p:spPr>
          <a:xfrm>
            <a:off x="1504949" y="549275"/>
            <a:ext cx="9163052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800" b="1" dirty="0">
                <a:latin typeface="+mj-lt"/>
              </a:rPr>
              <a:t>Задание 7. Обрезать изображение и сохранить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C569071-A5F8-E7C9-1DC2-DF3EA9F88597}"/>
              </a:ext>
            </a:extLst>
          </p:cNvPr>
          <p:cNvSpPr txBox="1"/>
          <p:nvPr/>
        </p:nvSpPr>
        <p:spPr>
          <a:xfrm>
            <a:off x="1493321" y="2700893"/>
            <a:ext cx="4203831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b="1" dirty="0"/>
              <a:t>Код: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652C659-39B1-B693-6C90-EC889EECEA23}"/>
              </a:ext>
            </a:extLst>
          </p:cNvPr>
          <p:cNvSpPr txBox="1"/>
          <p:nvPr/>
        </p:nvSpPr>
        <p:spPr>
          <a:xfrm>
            <a:off x="6095999" y="2700893"/>
            <a:ext cx="4572001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b="1" dirty="0"/>
              <a:t>Вывод: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98410A0E-D7A6-8BAB-6529-91DD7D536B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3322" y="3070224"/>
            <a:ext cx="4203830" cy="197008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C213034-1DB3-6960-E018-AC3149DB9E86}"/>
              </a:ext>
            </a:extLst>
          </p:cNvPr>
          <p:cNvSpPr txBox="1"/>
          <p:nvPr/>
        </p:nvSpPr>
        <p:spPr>
          <a:xfrm>
            <a:off x="1493322" y="5040312"/>
            <a:ext cx="418749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b="1" dirty="0"/>
              <a:t>Терминал: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2E6C211-DA84-9E6B-04F1-44E27FC062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3321" y="5409644"/>
            <a:ext cx="4187495" cy="89908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F614B7D0-F4C8-26B0-FCDA-B0777CECB6AB}"/>
              </a:ext>
            </a:extLst>
          </p:cNvPr>
          <p:cNvSpPr txBox="1"/>
          <p:nvPr/>
        </p:nvSpPr>
        <p:spPr>
          <a:xfrm>
            <a:off x="1485897" y="1534318"/>
            <a:ext cx="9182101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000" dirty="0"/>
              <a:t>Суть задания: извлечение нужного фрагмента изображения для фокусировки на отдельной части кадра</a:t>
            </a: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42F7ED1A-8EA9-9AB2-2D6E-98300EA7F0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3070224"/>
            <a:ext cx="3103026" cy="3238501"/>
          </a:xfrm>
          <a:prstGeom prst="rect">
            <a:avLst/>
          </a:prstGeom>
        </p:spPr>
      </p:pic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5B06067F-6127-6939-88C1-09AF687F185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43595" b="43595"/>
          <a:stretch/>
        </p:blipFill>
        <p:spPr>
          <a:xfrm>
            <a:off x="9288779" y="3070224"/>
            <a:ext cx="1379219" cy="3238501"/>
          </a:xfrm>
          <a:prstGeom prst="rect">
            <a:avLst/>
          </a:prstGeom>
        </p:spPr>
      </p:pic>
      <p:sp>
        <p:nvSpPr>
          <p:cNvPr id="23" name="Номер слайда 22">
            <a:extLst>
              <a:ext uri="{FF2B5EF4-FFF2-40B4-BE49-F238E27FC236}">
                <a16:creationId xmlns:a16="http://schemas.microsoft.com/office/drawing/2014/main" id="{A27B3D08-9886-BA57-671E-FC3A23A83C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ru-RU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9684216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41B6E55-C1E7-22C7-FFCB-604BB72C480D}"/>
              </a:ext>
            </a:extLst>
          </p:cNvPr>
          <p:cNvSpPr txBox="1"/>
          <p:nvPr/>
        </p:nvSpPr>
        <p:spPr>
          <a:xfrm>
            <a:off x="1485896" y="557530"/>
            <a:ext cx="9182101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800" b="1" dirty="0">
                <a:latin typeface="+mj-lt"/>
              </a:rPr>
              <a:t>Задание 8. Удалить один цветовой канал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1F5B869-FCA3-91D3-678D-F5E5BE3D9772}"/>
              </a:ext>
            </a:extLst>
          </p:cNvPr>
          <p:cNvSpPr txBox="1"/>
          <p:nvPr/>
        </p:nvSpPr>
        <p:spPr>
          <a:xfrm>
            <a:off x="1485895" y="1536878"/>
            <a:ext cx="9182101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000" dirty="0"/>
              <a:t>Суть задания: изоляция и обнуление данных одного из каналов для цветокоррекции/тонирования.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C569071-A5F8-E7C9-1DC2-DF3EA9F88597}"/>
              </a:ext>
            </a:extLst>
          </p:cNvPr>
          <p:cNvSpPr txBox="1"/>
          <p:nvPr/>
        </p:nvSpPr>
        <p:spPr>
          <a:xfrm>
            <a:off x="1493321" y="2700893"/>
            <a:ext cx="4203831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b="1" dirty="0"/>
              <a:t>Код: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652C659-39B1-B693-6C90-EC889EECEA23}"/>
              </a:ext>
            </a:extLst>
          </p:cNvPr>
          <p:cNvSpPr txBox="1"/>
          <p:nvPr/>
        </p:nvSpPr>
        <p:spPr>
          <a:xfrm>
            <a:off x="6095999" y="2700893"/>
            <a:ext cx="4572001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b="1" dirty="0"/>
              <a:t>Вывод: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D7953C3-19AC-B0B2-D3C8-E3163E7D6F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895" y="3070225"/>
            <a:ext cx="4211257" cy="1543011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09CCBDFD-9029-C5EE-06FA-C2C7AA2D7E1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717" r="43573"/>
          <a:stretch/>
        </p:blipFill>
        <p:spPr>
          <a:xfrm>
            <a:off x="1485892" y="4613236"/>
            <a:ext cx="4211259" cy="1687234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4B1DF4B8-196C-BA42-FF87-C4322D095C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5998" y="3070225"/>
            <a:ext cx="4572002" cy="3230245"/>
          </a:xfrm>
          <a:prstGeom prst="rect">
            <a:avLst/>
          </a:prstGeom>
        </p:spPr>
      </p:pic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542A7705-CE38-B1F5-D66B-50132E2AF1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ru-RU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8077993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41B6E55-C1E7-22C7-FFCB-604BB72C480D}"/>
              </a:ext>
            </a:extLst>
          </p:cNvPr>
          <p:cNvSpPr txBox="1"/>
          <p:nvPr/>
        </p:nvSpPr>
        <p:spPr>
          <a:xfrm>
            <a:off x="1485896" y="557530"/>
            <a:ext cx="9182101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ru-RU" sz="2800" b="1" dirty="0">
                <a:latin typeface="+mj-lt"/>
              </a:rPr>
              <a:t>Задание 9. Добавить текст на изображение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1F5B869-FCA3-91D3-678D-F5E5BE3D9772}"/>
              </a:ext>
            </a:extLst>
          </p:cNvPr>
          <p:cNvSpPr txBox="1"/>
          <p:nvPr/>
        </p:nvSpPr>
        <p:spPr>
          <a:xfrm>
            <a:off x="1485891" y="1690766"/>
            <a:ext cx="9182106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ru-RU" sz="2000" dirty="0"/>
              <a:t>Суть задания: нанесение текстовых меток поверх графических данных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C569071-A5F8-E7C9-1DC2-DF3EA9F88597}"/>
              </a:ext>
            </a:extLst>
          </p:cNvPr>
          <p:cNvSpPr txBox="1"/>
          <p:nvPr/>
        </p:nvSpPr>
        <p:spPr>
          <a:xfrm>
            <a:off x="1493321" y="2700893"/>
            <a:ext cx="4203831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b="1" dirty="0"/>
              <a:t>Код: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652C659-39B1-B693-6C90-EC889EECEA23}"/>
              </a:ext>
            </a:extLst>
          </p:cNvPr>
          <p:cNvSpPr txBox="1"/>
          <p:nvPr/>
        </p:nvSpPr>
        <p:spPr>
          <a:xfrm>
            <a:off x="6095999" y="2700893"/>
            <a:ext cx="4572001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b="1" dirty="0"/>
              <a:t>Вывод: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09CCBDFD-9029-C5EE-06FA-C2C7AA2D7E1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717" r="43573"/>
          <a:stretch/>
        </p:blipFill>
        <p:spPr>
          <a:xfrm>
            <a:off x="1485892" y="4055501"/>
            <a:ext cx="4211259" cy="2244969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DAA6E11D-B91F-2C5E-4299-330A776910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891" y="3070225"/>
            <a:ext cx="4211259" cy="985276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A3AB4349-7312-89C1-DAC2-D1E605FB84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5995" y="3070225"/>
            <a:ext cx="4572001" cy="3238500"/>
          </a:xfrm>
          <a:prstGeom prst="rect">
            <a:avLst/>
          </a:prstGeom>
        </p:spPr>
      </p:pic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6B9E6622-9382-3575-940F-5EA82209FF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ru-RU" dirty="0"/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5681332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41B6E55-C1E7-22C7-FFCB-604BB72C480D}"/>
              </a:ext>
            </a:extLst>
          </p:cNvPr>
          <p:cNvSpPr txBox="1"/>
          <p:nvPr/>
        </p:nvSpPr>
        <p:spPr>
          <a:xfrm>
            <a:off x="1485896" y="557530"/>
            <a:ext cx="9182101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ru-RU" sz="2800" b="1" dirty="0">
                <a:latin typeface="+mj-lt"/>
              </a:rPr>
              <a:t>Задание 10. </a:t>
            </a:r>
            <a:r>
              <a:rPr lang="ru-RU" sz="2800" b="1" dirty="0" err="1">
                <a:latin typeface="+mj-lt"/>
              </a:rPr>
              <a:t>Бинаризовать</a:t>
            </a:r>
            <a:r>
              <a:rPr lang="ru-RU" sz="2800" b="1" dirty="0">
                <a:latin typeface="+mj-lt"/>
              </a:rPr>
              <a:t> изображение и сохранить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1F5B869-FCA3-91D3-678D-F5E5BE3D9772}"/>
              </a:ext>
            </a:extLst>
          </p:cNvPr>
          <p:cNvSpPr txBox="1"/>
          <p:nvPr/>
        </p:nvSpPr>
        <p:spPr>
          <a:xfrm>
            <a:off x="1485891" y="1536878"/>
            <a:ext cx="9182106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ru-RU" sz="2000" dirty="0"/>
              <a:t>Суть задания: разделение пикселей по порогу яркости на две группы (черное/белое без серых полутонов) для отделения объектов от фона.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C569071-A5F8-E7C9-1DC2-DF3EA9F88597}"/>
              </a:ext>
            </a:extLst>
          </p:cNvPr>
          <p:cNvSpPr txBox="1"/>
          <p:nvPr/>
        </p:nvSpPr>
        <p:spPr>
          <a:xfrm>
            <a:off x="1493321" y="2700893"/>
            <a:ext cx="4203831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b="1" dirty="0"/>
              <a:t>Код: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652C659-39B1-B693-6C90-EC889EECEA23}"/>
              </a:ext>
            </a:extLst>
          </p:cNvPr>
          <p:cNvSpPr txBox="1"/>
          <p:nvPr/>
        </p:nvSpPr>
        <p:spPr>
          <a:xfrm>
            <a:off x="6095999" y="2700893"/>
            <a:ext cx="4572001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b="1" dirty="0"/>
              <a:t>Вывод: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EE68230-89B6-ECB9-8CBD-A9CF199EC5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3317" y="3070225"/>
            <a:ext cx="4203831" cy="177985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3DE9065-B19C-FCDD-6886-472F9BB135B7}"/>
              </a:ext>
            </a:extLst>
          </p:cNvPr>
          <p:cNvSpPr txBox="1"/>
          <p:nvPr/>
        </p:nvSpPr>
        <p:spPr>
          <a:xfrm>
            <a:off x="1493322" y="5040312"/>
            <a:ext cx="418749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b="1" dirty="0"/>
              <a:t>Терминал: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D48B76AC-DCD4-7547-2D7F-977B2694ED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891" y="5409645"/>
            <a:ext cx="4211257" cy="899080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C6FA2AC8-72B5-A7FD-CC84-698521F9F2D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4717" r="43573"/>
          <a:stretch/>
        </p:blipFill>
        <p:spPr>
          <a:xfrm>
            <a:off x="1485889" y="4850079"/>
            <a:ext cx="4211259" cy="190233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436DCDEE-9395-56D3-39C9-85558190B5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79663" y="3070225"/>
            <a:ext cx="4588334" cy="3239393"/>
          </a:xfrm>
          <a:prstGeom prst="rect">
            <a:avLst/>
          </a:prstGeom>
        </p:spPr>
      </p:pic>
      <p:sp>
        <p:nvSpPr>
          <p:cNvPr id="15" name="Номер слайда 14">
            <a:extLst>
              <a:ext uri="{FF2B5EF4-FFF2-40B4-BE49-F238E27FC236}">
                <a16:creationId xmlns:a16="http://schemas.microsoft.com/office/drawing/2014/main" id="{53D5D76B-175F-2DD7-0427-4E335E4EA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ru-RU" dirty="0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3105254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41B6E55-C1E7-22C7-FFCB-604BB72C480D}"/>
              </a:ext>
            </a:extLst>
          </p:cNvPr>
          <p:cNvSpPr txBox="1"/>
          <p:nvPr/>
        </p:nvSpPr>
        <p:spPr>
          <a:xfrm>
            <a:off x="1478764" y="448811"/>
            <a:ext cx="9182101" cy="76604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800" b="1" dirty="0">
                <a:latin typeface="+mj-lt"/>
              </a:rPr>
              <a:t>Контрольные вопросы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1F5B869-FCA3-91D3-678D-F5E5BE3D9772}"/>
              </a:ext>
            </a:extLst>
          </p:cNvPr>
          <p:cNvSpPr txBox="1"/>
          <p:nvPr/>
        </p:nvSpPr>
        <p:spPr>
          <a:xfrm>
            <a:off x="1487488" y="1024212"/>
            <a:ext cx="9182106" cy="54073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ru-RU" b="1" dirty="0"/>
              <a:t>1. Что такое пиксель и как он представлен в цветном изображении?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65E4DE-7D6B-49F6-7D70-49D3CC230020}"/>
              </a:ext>
            </a:extLst>
          </p:cNvPr>
          <p:cNvSpPr txBox="1"/>
          <p:nvPr/>
        </p:nvSpPr>
        <p:spPr>
          <a:xfrm>
            <a:off x="1487488" y="1332946"/>
            <a:ext cx="9182106" cy="94629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b="1" dirty="0"/>
              <a:t>Ответ: </a:t>
            </a:r>
            <a:r>
              <a:rPr lang="ru-RU" dirty="0"/>
              <a:t>наименьший элемент цифрового изображения, содержащий информацию о яркости и цвете</a:t>
            </a:r>
            <a:endParaRPr lang="ru-RU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2BCE2EF-1E4E-4104-5239-E6203734018B}"/>
              </a:ext>
            </a:extLst>
          </p:cNvPr>
          <p:cNvSpPr txBox="1"/>
          <p:nvPr/>
        </p:nvSpPr>
        <p:spPr>
          <a:xfrm>
            <a:off x="1487488" y="2052466"/>
            <a:ext cx="9182106" cy="54073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ru-RU" b="1" dirty="0"/>
              <a:t>2. В чем разница между RGB и HSV?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B6288AE-09CC-5A07-59ED-90CC972FC3F3}"/>
              </a:ext>
            </a:extLst>
          </p:cNvPr>
          <p:cNvSpPr txBox="1"/>
          <p:nvPr/>
        </p:nvSpPr>
        <p:spPr>
          <a:xfrm>
            <a:off x="1487488" y="2237875"/>
            <a:ext cx="9182106" cy="175740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b="1" dirty="0"/>
              <a:t>Ответ: </a:t>
            </a:r>
            <a:r>
              <a:rPr lang="en-US" dirty="0"/>
              <a:t>RGB </a:t>
            </a:r>
            <a:r>
              <a:rPr lang="ru-RU" dirty="0"/>
              <a:t>основан на смешивании трёх основных цветов (красного, зеленого и синего) и является основным способом представления цветов на экране</a:t>
            </a:r>
            <a:r>
              <a:rPr lang="en-US" dirty="0"/>
              <a:t>; </a:t>
            </a:r>
            <a:r>
              <a:rPr lang="ru-RU" dirty="0"/>
              <a:t>в </a:t>
            </a:r>
            <a:r>
              <a:rPr lang="en-US" dirty="0"/>
              <a:t>HSV </a:t>
            </a:r>
            <a:r>
              <a:rPr lang="ru-RU" dirty="0"/>
              <a:t>цвета представлены через параметры </a:t>
            </a:r>
            <a:r>
              <a:rPr lang="en-US" dirty="0"/>
              <a:t>Hue (</a:t>
            </a:r>
            <a:r>
              <a:rPr lang="ru-RU" dirty="0"/>
              <a:t>цветовой тон)</a:t>
            </a:r>
            <a:r>
              <a:rPr lang="en-US" dirty="0"/>
              <a:t>, Saturation (</a:t>
            </a:r>
            <a:r>
              <a:rPr lang="ru-RU" dirty="0"/>
              <a:t>насыщенность) и </a:t>
            </a:r>
            <a:r>
              <a:rPr lang="en-US" dirty="0"/>
              <a:t>Value (</a:t>
            </a:r>
            <a:r>
              <a:rPr lang="ru-RU" dirty="0"/>
              <a:t>значение яркости), что удобно для обработки оттенков</a:t>
            </a:r>
            <a:endParaRPr lang="ru-RU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F6A8668-D6E4-5A1C-E82D-453FBC4EA553}"/>
              </a:ext>
            </a:extLst>
          </p:cNvPr>
          <p:cNvSpPr txBox="1"/>
          <p:nvPr/>
        </p:nvSpPr>
        <p:spPr>
          <a:xfrm>
            <a:off x="1496217" y="3636327"/>
            <a:ext cx="9164648" cy="54073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ru-RU" b="1" dirty="0"/>
              <a:t>3. Как получить отдельный цветовой канал в </a:t>
            </a:r>
            <a:r>
              <a:rPr lang="ru-RU" b="1" dirty="0" err="1"/>
              <a:t>OpenCV</a:t>
            </a:r>
            <a:r>
              <a:rPr lang="ru-RU" b="1" dirty="0"/>
              <a:t>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0D2500-A0A1-8B4C-1976-D68650FD4B24}"/>
              </a:ext>
            </a:extLst>
          </p:cNvPr>
          <p:cNvSpPr txBox="1"/>
          <p:nvPr/>
        </p:nvSpPr>
        <p:spPr>
          <a:xfrm>
            <a:off x="1487488" y="4008564"/>
            <a:ext cx="9182106" cy="54073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b="1" dirty="0"/>
              <a:t>Ответ: </a:t>
            </a:r>
            <a:r>
              <a:rPr lang="ru-RU" dirty="0"/>
              <a:t>с помощью функции разделения каналов </a:t>
            </a:r>
            <a:r>
              <a:rPr lang="en-US" dirty="0"/>
              <a:t>cv2.split()</a:t>
            </a:r>
            <a:endParaRPr lang="ru-RU" b="1" dirty="0"/>
          </a:p>
        </p:txBody>
      </p:sp>
      <p:sp>
        <p:nvSpPr>
          <p:cNvPr id="15" name="Номер слайда 14">
            <a:extLst>
              <a:ext uri="{FF2B5EF4-FFF2-40B4-BE49-F238E27FC236}">
                <a16:creationId xmlns:a16="http://schemas.microsoft.com/office/drawing/2014/main" id="{E5B656E7-25A9-3B44-9104-A4F257D11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ru-RU" dirty="0"/>
              <a:t>12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FCB03C1-0B76-2E08-203C-12C1A8C68811}"/>
              </a:ext>
            </a:extLst>
          </p:cNvPr>
          <p:cNvSpPr txBox="1"/>
          <p:nvPr/>
        </p:nvSpPr>
        <p:spPr>
          <a:xfrm>
            <a:off x="1478762" y="4377896"/>
            <a:ext cx="9182106" cy="54073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ru-RU" b="1" dirty="0"/>
              <a:t>4. Как преобразовать цветное изображение в градации серого?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94C8A30-3803-DF2B-B667-815A58C44D49}"/>
              </a:ext>
            </a:extLst>
          </p:cNvPr>
          <p:cNvSpPr txBox="1"/>
          <p:nvPr/>
        </p:nvSpPr>
        <p:spPr>
          <a:xfrm>
            <a:off x="1485893" y="4686657"/>
            <a:ext cx="9167841" cy="94629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b="1" dirty="0"/>
              <a:t>Ответ: </a:t>
            </a:r>
            <a:r>
              <a:rPr lang="ru-RU" dirty="0"/>
              <a:t>с помощью функции изменения цветового пространства </a:t>
            </a:r>
            <a:r>
              <a:rPr lang="en-US" dirty="0"/>
              <a:t>cv2.cvtColor() </a:t>
            </a:r>
            <a:r>
              <a:rPr lang="ru-RU" dirty="0"/>
              <a:t>с флагом </a:t>
            </a:r>
            <a:r>
              <a:rPr lang="en-US" dirty="0"/>
              <a:t>cv2.COLOR_BGR2GRAY</a:t>
            </a:r>
            <a:endParaRPr lang="ru-RU" b="1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C944073-96C3-A880-15BE-6FC4998BB818}"/>
              </a:ext>
            </a:extLst>
          </p:cNvPr>
          <p:cNvSpPr txBox="1"/>
          <p:nvPr/>
        </p:nvSpPr>
        <p:spPr>
          <a:xfrm>
            <a:off x="1485893" y="5406150"/>
            <a:ext cx="9159859" cy="54073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ru-RU" b="1" dirty="0"/>
              <a:t>5. Что такое альфа-канал?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D9D7265-9BC1-3DE0-6747-8C9EA0B1A37E}"/>
              </a:ext>
            </a:extLst>
          </p:cNvPr>
          <p:cNvSpPr txBox="1"/>
          <p:nvPr/>
        </p:nvSpPr>
        <p:spPr>
          <a:xfrm>
            <a:off x="1485893" y="5775482"/>
            <a:ext cx="9167841" cy="54073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b="1" dirty="0"/>
              <a:t>Ответ: </a:t>
            </a:r>
            <a:r>
              <a:rPr lang="ru-RU" dirty="0"/>
              <a:t>доп. канал в изображении RGBA, отвечающий за прозрачность пикселей</a:t>
            </a:r>
            <a:endParaRPr lang="ru-RU" b="1" dirty="0"/>
          </a:p>
        </p:txBody>
      </p:sp>
    </p:spTree>
    <p:extLst>
      <p:ext uri="{BB962C8B-B14F-4D97-AF65-F5344CB8AC3E}">
        <p14:creationId xmlns:p14="http://schemas.microsoft.com/office/powerpoint/2010/main" val="5601708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6E0652-C363-06DA-A12C-453394A05F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7488" y="2858293"/>
            <a:ext cx="9180512" cy="1141413"/>
          </a:xfrm>
        </p:spPr>
        <p:txBody>
          <a:bodyPr/>
          <a:lstStyle/>
          <a:p>
            <a:pPr algn="ctr"/>
            <a:r>
              <a:rPr lang="ru-RU" b="1" dirty="0"/>
              <a:t>Спасибо за внимание!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20CA38D-6AB6-8BDB-808C-C23C15E873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4921519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</TotalTime>
  <Words>727</Words>
  <Application>Microsoft Office PowerPoint</Application>
  <PresentationFormat>Широкоэкранный</PresentationFormat>
  <Paragraphs>95</Paragraphs>
  <Slides>18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18</vt:i4>
      </vt:variant>
    </vt:vector>
  </HeadingPairs>
  <TitlesOfParts>
    <vt:vector size="22" baseType="lpstr">
      <vt:lpstr>Aptos</vt:lpstr>
      <vt:lpstr>Aptos Display</vt:lpstr>
      <vt:lpstr>Arial</vt:lpstr>
      <vt:lpstr>Тема Office</vt:lpstr>
      <vt:lpstr>Практическая работа №1: Основы работы с изображениями и цветовые модели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Спасибо за внимание!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Temirlan Akramov</dc:creator>
  <cp:lastModifiedBy>Temirlan Akramov</cp:lastModifiedBy>
  <cp:revision>3</cp:revision>
  <dcterms:created xsi:type="dcterms:W3CDTF">2026-09-16T15:58:33Z</dcterms:created>
  <dcterms:modified xsi:type="dcterms:W3CDTF">2026-09-17T11:28:51Z</dcterms:modified>
</cp:coreProperties>
</file>