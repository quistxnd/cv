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83" r:id="rId4"/>
    <p:sldId id="258" r:id="rId5"/>
    <p:sldId id="284" r:id="rId6"/>
    <p:sldId id="261" r:id="rId7"/>
    <p:sldId id="277" r:id="rId8"/>
    <p:sldId id="262" r:id="rId9"/>
    <p:sldId id="278" r:id="rId10"/>
    <p:sldId id="263" r:id="rId11"/>
    <p:sldId id="279" r:id="rId12"/>
    <p:sldId id="264" r:id="rId13"/>
    <p:sldId id="280" r:id="rId14"/>
    <p:sldId id="274" r:id="rId15"/>
    <p:sldId id="281" r:id="rId16"/>
    <p:sldId id="282" r:id="rId17"/>
    <p:sldId id="275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pos="937" userDrawn="1">
          <p15:clr>
            <a:srgbClr val="A4A3A4"/>
          </p15:clr>
        </p15:guide>
        <p15:guide id="4" pos="6720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346"/>
        <p:guide orient="horz" pos="3974"/>
        <p:guide pos="937"/>
        <p:guide pos="67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FABF-92EB-4A28-9D96-EEEDC3A31D40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C420-320D-43F3-8A1E-7EA6D07B5A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8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CA74-5891-0962-7F34-2D269883B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64628B-ACFC-48BD-994A-A45DD371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6A32-3498-D97F-C566-BFD3B9D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E1F-2934-495D-856C-8D902092E890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1E8-D9B6-367F-E84E-51DDB4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9484B-4F4B-27E6-B99D-C697E13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D697F-B881-D447-A8A1-3653B7B0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53F89-90BF-2629-502D-5931D406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EA5B8-4726-9188-6115-B89106A1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DE2A-647D-4500-9D2E-502AC02C4614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00C1B-CF92-0371-90DB-79F8D564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0595D-A75F-CAB5-AE90-E3E07EB4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8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A941C-ACAE-B768-7847-E6775439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B2D38-00F6-3DFA-E503-F0C09CEA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FF993-96BC-9FC1-91ED-92777C56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451-672F-45F1-88E4-8B4F5094B741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F5120-F671-1C1E-3C47-E98D2E58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0AE5C-F751-1159-5464-822147E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89D2C-3651-CAFC-EF50-E83DF2ED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47EC4-6DE9-B843-CAF2-ECE6808F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E96C9-AD9C-F0F3-2E8C-448EA93C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1F51A0-F82C-0F42-DA6A-C48D9844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6CC5-59D3-433C-92EF-64C02CE878DA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83A810-3FD3-3810-80CA-B4428307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73FCE-213E-6581-2041-1B43E3B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E52D6-1E2A-DE3E-2D07-2E3639A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0DD91-D018-EAF1-500D-F8F9F4B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85A0B-BEBB-9177-5351-7804EF9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C7659-04A4-F62B-7725-6100AA6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67E88D-9109-7F25-8154-BFA444625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E328C5-8E0E-C1ED-C124-4D6E5885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5CA7-9EF3-40A2-95F2-8EF16B26BE6A}" type="datetime1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85F774-367D-382E-36A4-B02393AB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2816B7-62C6-5A7E-6221-A1C3BFAD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2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92608-AD05-9047-97D8-E93C65FF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238BA-2101-77D5-A4A4-FC7194BA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9540-2548-477D-A6DA-EDB84F67A50B}" type="datetime1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BF0DD2-0F4D-22FB-9506-1208C7DD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478D59-A710-67CE-9B76-A263D4B0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5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8E2444-CD58-EA1B-B50E-CE11C51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C029-194E-49EB-BA02-35756DA27575}" type="datetime1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0BB43-416E-C502-0F45-D775BEC0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7ECDD-7BAF-97B9-6CBB-FC6C011F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1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87DC-2CF0-A417-54B2-EB45847C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B83F4-BB96-ABA4-D745-BFF31E9D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03BE5-A6FD-B9F1-B587-54F7D6F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0B34B-03D1-CB35-F9AE-9676E756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CD5A-8A32-448E-8FB6-21BB2461D800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EEDB42-EF94-B74D-FFE7-AEEBCE66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CE31A8-9A03-2ECD-356B-105A2DC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00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275C9-7E70-5004-7B95-36350E0F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2B57CA-452A-2A34-7E96-F835183A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32018-C8DE-2E14-570A-47776409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C992C-AA87-E56F-BF8D-ACB7934F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BF4E-BA3A-41CB-9559-EB408650D4F0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0FC96-E622-5106-A5AE-813FA52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3811D-1610-9287-2708-3EC0E48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0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1837-011F-931C-53F9-AC857C4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D3AE-FF19-7B37-DAA8-952CF564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2F4D5-4F29-AAA2-D0B8-ED332AE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7BD34-D32B-4D72-9CBA-4E8D578FEEE7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CD33D-1639-1C28-89A1-B4CD799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FF268-F5B4-B806-9A84-E613BB9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B3C08-346F-3C81-D7C3-470FD0CC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13B125-F7C1-BA50-74E5-9532D7DB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4640D-C2A1-81D1-B46A-EC3CD65D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85BE-6B8F-41F3-A0F2-64C4E49B1807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06C275-6A53-9424-13E9-EDB738B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5B914-D3CF-239C-B60A-DA29285D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9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0D70B-ECE8-4548-DCA1-2D3D5105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11D8A-F8B5-F07E-8C28-BD7E27E8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890C8-E192-9413-A04C-AF73FBE9A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BBDD-9558-4802-8A3E-66A2C0A2BB66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82FD1-0430-A04B-58D3-01321D466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7C9A9-A8A9-77B5-50C8-66103CF77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D6347-2948-828C-BECF-D54422C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488" y="2239002"/>
            <a:ext cx="9180512" cy="2047248"/>
          </a:xfrm>
        </p:spPr>
        <p:txBody>
          <a:bodyPr anchor="ctr">
            <a:noAutofit/>
          </a:bodyPr>
          <a:lstStyle/>
          <a:p>
            <a:r>
              <a:rPr lang="ru-RU" sz="4500" dirty="0"/>
              <a:t>Практическая работа №</a:t>
            </a:r>
            <a:r>
              <a:rPr lang="en-US" sz="4500" dirty="0"/>
              <a:t>2</a:t>
            </a:r>
            <a:r>
              <a:rPr lang="ru-RU" sz="4500" dirty="0"/>
              <a:t>:</a:t>
            </a:r>
            <a:br>
              <a:rPr lang="ru-RU" sz="4500" dirty="0"/>
            </a:br>
            <a:r>
              <a:rPr lang="ru-RU" sz="4500" b="1" dirty="0"/>
              <a:t>Гистограммы, профили и проекции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1C6DBC-CA8F-F90E-3B35-57B4F6F4A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7488" y="4286250"/>
            <a:ext cx="9180512" cy="404478"/>
          </a:xfrm>
        </p:spPr>
        <p:txBody>
          <a:bodyPr anchor="ctr">
            <a:normAutofit lnSpcReduction="10000"/>
          </a:bodyPr>
          <a:lstStyle/>
          <a:p>
            <a:r>
              <a:rPr lang="ru-RU" dirty="0"/>
              <a:t>Вариант №3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BA5D-C693-EE1D-CB03-23984F88CBB5}"/>
              </a:ext>
            </a:extLst>
          </p:cNvPr>
          <p:cNvSpPr txBox="1"/>
          <p:nvPr/>
        </p:nvSpPr>
        <p:spPr>
          <a:xfrm>
            <a:off x="7972926" y="5354618"/>
            <a:ext cx="2695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Работу выполнили:</a:t>
            </a:r>
            <a:br>
              <a:rPr lang="ru-RU" sz="1400" dirty="0"/>
            </a:br>
            <a:r>
              <a:rPr lang="ru-RU" sz="1400" dirty="0"/>
              <a:t>студенты 932302 группы</a:t>
            </a:r>
            <a:br>
              <a:rPr lang="ru-RU" sz="1400" dirty="0"/>
            </a:br>
            <a:r>
              <a:rPr lang="ru-RU" sz="1400" dirty="0"/>
              <a:t>Акрамов </a:t>
            </a:r>
            <a:r>
              <a:rPr lang="ru-RU" sz="1400" dirty="0" err="1"/>
              <a:t>Темирлан</a:t>
            </a:r>
            <a:r>
              <a:rPr lang="ru-RU" sz="1400" dirty="0"/>
              <a:t>,</a:t>
            </a:r>
            <a:br>
              <a:rPr lang="ru-RU" sz="1400" dirty="0"/>
            </a:br>
            <a:r>
              <a:rPr lang="ru-RU" sz="1400" dirty="0"/>
              <a:t>Гуров Иван</a:t>
            </a:r>
          </a:p>
        </p:txBody>
      </p:sp>
    </p:spTree>
    <p:extLst>
      <p:ext uri="{BB962C8B-B14F-4D97-AF65-F5344CB8AC3E}">
        <p14:creationId xmlns:p14="http://schemas.microsoft.com/office/powerpoint/2010/main" val="6882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65739"/>
            <a:ext cx="92127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/>
              <a:t>Загрузка данных и предварительная обработка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9" y="1387094"/>
            <a:ext cx="918210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Подготовить рабочие матрицы изображения: цветную 3-канальную для проекций и одноканальную полутоновую для яркостного, градиентного и порогового анализа.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1577488" y="2700892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2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B119A-3797-FCB1-5185-C02E5974D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623" y="3063686"/>
            <a:ext cx="3504774" cy="36577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6975D0-3FE8-F536-B4B4-C5293468EAA7}"/>
              </a:ext>
            </a:extLst>
          </p:cNvPr>
          <p:cNvSpPr txBox="1"/>
          <p:nvPr/>
        </p:nvSpPr>
        <p:spPr>
          <a:xfrm>
            <a:off x="6410681" y="2700892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9E41E4-1459-349F-BF41-1D590EEA2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488" y="3184525"/>
            <a:ext cx="42957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3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565739"/>
            <a:ext cx="92127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/>
              <a:t>Загрузка данных и предварительная обработка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9" y="1387094"/>
            <a:ext cx="918210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Подготовить рабочие матрицы изображения: цветную 3-канальную для проекций и одноканальную полутоновую для яркостного, градиентного и порогового анализа.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3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975D0-3FE8-F536-B4B4-C5293468EAA7}"/>
              </a:ext>
            </a:extLst>
          </p:cNvPr>
          <p:cNvSpPr txBox="1"/>
          <p:nvPr/>
        </p:nvSpPr>
        <p:spPr>
          <a:xfrm>
            <a:off x="3990372" y="2718969"/>
            <a:ext cx="42038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CAE59A-D109-2FEA-8BCC-B05AF9AE2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53" y="3133725"/>
            <a:ext cx="79724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3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350296"/>
            <a:ext cx="921277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1. Анализ распределения яркости изображения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9" y="1540983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гистограмму изображения и определить минимум, максимум и медиану яркости.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3A2F61-C57C-9D7C-9784-4944BAE5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19" y="2386256"/>
            <a:ext cx="3789961" cy="444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6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5899" y="350296"/>
            <a:ext cx="921277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1. Анализ распределения яркости изображения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5899" y="1540983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гистограмму изображения и определить минимум, максимум и медиану яркости.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2C659-39B1-B693-6C90-EC889EECEA23}"/>
              </a:ext>
            </a:extLst>
          </p:cNvPr>
          <p:cNvSpPr txBox="1"/>
          <p:nvPr/>
        </p:nvSpPr>
        <p:spPr>
          <a:xfrm>
            <a:off x="3783528" y="2608818"/>
            <a:ext cx="46101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5A48CF-808B-F3BA-12E7-27BF7F7C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24" y="3060520"/>
            <a:ext cx="100393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9609" y="137169"/>
            <a:ext cx="921277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2. Градиентные профили (Фильтр </a:t>
            </a:r>
            <a:r>
              <a:rPr lang="ru-RU" sz="2800" b="1" dirty="0" err="1">
                <a:latin typeface="+mj-lt"/>
              </a:rPr>
              <a:t>Собеля</a:t>
            </a:r>
            <a:r>
              <a:rPr lang="ru-RU" sz="2800" b="1" dirty="0">
                <a:latin typeface="+mj-lt"/>
              </a:rPr>
              <a:t> по X и 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9608" y="1336088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профили изображения после применения фильтра «</a:t>
            </a:r>
            <a:r>
              <a:rPr lang="ru-RU" sz="2000" dirty="0" err="1"/>
              <a:t>Собель</a:t>
            </a:r>
            <a:r>
              <a:rPr lang="ru-RU" sz="2000" dirty="0"/>
              <a:t>» по X и 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098" y="2045472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E68AB01A-8F4E-E197-5EE4-ADA4BA8C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944396-69D4-932C-8309-DE4F20384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38" y="2613025"/>
            <a:ext cx="4257675" cy="37433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DF10CE-5E4D-B6FE-824F-C2763B14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93" y="2609487"/>
            <a:ext cx="42957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9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9609" y="137169"/>
            <a:ext cx="921277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2. Градиентные профили (Фильтр </a:t>
            </a:r>
            <a:r>
              <a:rPr lang="ru-RU" sz="2800" b="1" dirty="0" err="1">
                <a:latin typeface="+mj-lt"/>
              </a:rPr>
              <a:t>Собеля</a:t>
            </a:r>
            <a:r>
              <a:rPr lang="ru-RU" sz="2800" b="1" dirty="0">
                <a:latin typeface="+mj-lt"/>
              </a:rPr>
              <a:t> по X и 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9608" y="1336088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профили изображения после применения фильтра «</a:t>
            </a:r>
            <a:r>
              <a:rPr lang="ru-RU" sz="2000" dirty="0" err="1"/>
              <a:t>Собель</a:t>
            </a:r>
            <a:r>
              <a:rPr lang="ru-RU" sz="2000" dirty="0"/>
              <a:t>» по X и 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098" y="2045472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E68AB01A-8F4E-E197-5EE4-ADA4BA8C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6B558D-B8E6-F553-978C-76716F74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108" y="2414804"/>
            <a:ext cx="7887778" cy="43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5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2190" y="549275"/>
            <a:ext cx="918581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3. Интегральные проекции цветного изображения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3491513" y="4089955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81176-D1EE-00B4-D512-DF4558557F7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горизонтальную и вертикальную проекции цветного изображения (суммируя по каналам).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84D501B-E133-D9A8-6B7A-D563CF6B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5D7368-5656-7936-E8AB-C3EDD699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197100"/>
            <a:ext cx="36576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1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82190" y="549275"/>
            <a:ext cx="918581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3. Интегральные проекции цветного изображения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3988193" y="2726524"/>
            <a:ext cx="41738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81176-D1EE-00B4-D512-DF4558557F7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Построить горизонтальную и вертикальную проекции цветного изображения (суммируя по каналам).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84D501B-E133-D9A8-6B7A-D563CF6B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16BDD3-3930-D740-B34C-99BC12F2A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1" y="3249642"/>
            <a:ext cx="105441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Найти строки с пикселями выше порога в горизонтальной проекции бинарного изображения.	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892" y="2748518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0700A-D1A3-CABA-8257-0049F29CEB91}"/>
              </a:ext>
            </a:extLst>
          </p:cNvPr>
          <p:cNvSpPr txBox="1"/>
          <p:nvPr/>
        </p:nvSpPr>
        <p:spPr>
          <a:xfrm>
            <a:off x="1482190" y="764718"/>
            <a:ext cx="918581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4. Поиск значимых строк бинарного кадра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7BD2D-450B-9072-1CC3-235F616A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BC3537-6377-59E9-4C4F-C4A540AA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51" y="3117850"/>
            <a:ext cx="5410200" cy="3238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AD397E-B79F-9D56-982C-7FE44B40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3117850"/>
            <a:ext cx="46005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1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Найти строки с пикселями выше порога в горизонтальной проекции бинарного изображения.	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892" y="2748518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0700A-D1A3-CABA-8257-0049F29CEB91}"/>
              </a:ext>
            </a:extLst>
          </p:cNvPr>
          <p:cNvSpPr txBox="1"/>
          <p:nvPr/>
        </p:nvSpPr>
        <p:spPr>
          <a:xfrm>
            <a:off x="1482190" y="764718"/>
            <a:ext cx="918581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4. Поиск значимых строк бинарного кадра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7BD2D-450B-9072-1CC3-235F616A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968137-4B8F-6A7A-ADF6-1A9AB8486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70" y="3143250"/>
            <a:ext cx="101536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4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891" y="2752128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Код: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17830-3824-984A-0FE8-3764A8CCF5E4}"/>
              </a:ext>
            </a:extLst>
          </p:cNvPr>
          <p:cNvSpPr txBox="1"/>
          <p:nvPr/>
        </p:nvSpPr>
        <p:spPr>
          <a:xfrm>
            <a:off x="1482190" y="764718"/>
            <a:ext cx="918581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5. Поиск значимых столбцов бинарного кадра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1F59B-B0EE-8AD8-BE35-7EF5C245174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Найти столбцы с пикселями выше порога в вертикальной проекции бинарного изображения.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13964B-87DF-AA68-A2E5-441A8684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9FF70C-76A5-0748-322E-4C1136A5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78" y="3169107"/>
            <a:ext cx="4810125" cy="29241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9192EF-42ED-F09F-73A4-1970B91F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172920"/>
            <a:ext cx="47244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C569071-A5F8-E7C9-1DC2-DF3EA9F88597}"/>
              </a:ext>
            </a:extLst>
          </p:cNvPr>
          <p:cNvSpPr txBox="1"/>
          <p:nvPr/>
        </p:nvSpPr>
        <p:spPr>
          <a:xfrm>
            <a:off x="4009891" y="2752128"/>
            <a:ext cx="41722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b="1" dirty="0"/>
              <a:t>Вывод: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17830-3824-984A-0FE8-3764A8CCF5E4}"/>
              </a:ext>
            </a:extLst>
          </p:cNvPr>
          <p:cNvSpPr txBox="1"/>
          <p:nvPr/>
        </p:nvSpPr>
        <p:spPr>
          <a:xfrm>
            <a:off x="1482190" y="764718"/>
            <a:ext cx="918581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Задание 5. Поиск значимых столбцов бинарного кадра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1F59B-B0EE-8AD8-BE35-7EF5C2451747}"/>
              </a:ext>
            </a:extLst>
          </p:cNvPr>
          <p:cNvSpPr txBox="1"/>
          <p:nvPr/>
        </p:nvSpPr>
        <p:spPr>
          <a:xfrm>
            <a:off x="1489610" y="1747042"/>
            <a:ext cx="92127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000" dirty="0"/>
              <a:t>Суть задания: Найти столбцы с пикселями выше порога в вертикальной проекции бинарного изображения.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13964B-87DF-AA68-A2E5-441A8684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4FE79C-44D8-DA63-4033-B5D83D86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32" y="3121460"/>
            <a:ext cx="101441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78764" y="503478"/>
            <a:ext cx="9182101" cy="7660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7488" y="1109915"/>
            <a:ext cx="91821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1. Что такое гистограмма изображения и для чего она используется?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E4DE-7D6B-49F6-7D70-49D3CC230020}"/>
              </a:ext>
            </a:extLst>
          </p:cNvPr>
          <p:cNvSpPr txBox="1"/>
          <p:nvPr/>
        </p:nvSpPr>
        <p:spPr>
          <a:xfrm>
            <a:off x="1487488" y="1399970"/>
            <a:ext cx="9173377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Это график статистического распределения пикселей по уровням яркости (от 0 до 255). Она используется для оценки освещенности и контрастности кадра, выбора порогов сегментации (например, метода </a:t>
            </a:r>
            <a:r>
              <a:rPr lang="ru-RU" dirty="0" err="1"/>
              <a:t>Оцу</a:t>
            </a:r>
            <a:r>
              <a:rPr lang="ru-RU" dirty="0"/>
              <a:t>) и коррекции тонового баланса (</a:t>
            </a:r>
            <a:r>
              <a:rPr lang="ru-RU" dirty="0" err="1"/>
              <a:t>эквализации</a:t>
            </a:r>
            <a:r>
              <a:rPr lang="ru-RU" dirty="0"/>
              <a:t>).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CE2EF-1E4E-4104-5239-E6203734018B}"/>
              </a:ext>
            </a:extLst>
          </p:cNvPr>
          <p:cNvSpPr txBox="1"/>
          <p:nvPr/>
        </p:nvSpPr>
        <p:spPr>
          <a:xfrm>
            <a:off x="1487488" y="2536432"/>
            <a:ext cx="91821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2. Чем отличается гистограмма цветного изображения от серого?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288AE-09CC-5A07-59ED-90CC972FC3F3}"/>
              </a:ext>
            </a:extLst>
          </p:cNvPr>
          <p:cNvSpPr txBox="1"/>
          <p:nvPr/>
        </p:nvSpPr>
        <p:spPr>
          <a:xfrm>
            <a:off x="1463646" y="2855227"/>
            <a:ext cx="918210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Для серого (полутонового) изображения строится одна гистограмма общей яркости. Для цветного изображения строятся три отдельные гистограммы по каждому каналу (R, G, B) либо трехмерная гистограмма цветовых сочетаний.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8668-D6E4-5A1C-E82D-453FBC4EA553}"/>
              </a:ext>
            </a:extLst>
          </p:cNvPr>
          <p:cNvSpPr txBox="1"/>
          <p:nvPr/>
        </p:nvSpPr>
        <p:spPr>
          <a:xfrm>
            <a:off x="1489086" y="3799624"/>
            <a:ext cx="91646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3. Что такое профиль изображения?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D2500-A0A1-8B4C-1976-D68650FD4B24}"/>
              </a:ext>
            </a:extLst>
          </p:cNvPr>
          <p:cNvSpPr txBox="1"/>
          <p:nvPr/>
        </p:nvSpPr>
        <p:spPr>
          <a:xfrm>
            <a:off x="1463646" y="4086275"/>
            <a:ext cx="918210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Это одномерный график изменения интенсивности (яркости) пикселей вдоль заданной линии: либо срез по одной конкретной строке/столбцу, либо усредненное значение яркости строк или столбцов всего изображения.</a:t>
            </a:r>
            <a:endParaRPr lang="ru-RU" b="1" dirty="0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E5B656E7-25A9-3B44-9104-A4F257D1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B03C1-0B76-2E08-203C-12C1A8C68811}"/>
              </a:ext>
            </a:extLst>
          </p:cNvPr>
          <p:cNvSpPr txBox="1"/>
          <p:nvPr/>
        </p:nvSpPr>
        <p:spPr>
          <a:xfrm>
            <a:off x="1478762" y="4972560"/>
            <a:ext cx="91821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4. Как вычисляется горизонтальный и вертикальный профиль?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C8A30-3803-DF2B-B667-815A58C44D49}"/>
              </a:ext>
            </a:extLst>
          </p:cNvPr>
          <p:cNvSpPr txBox="1"/>
          <p:nvPr/>
        </p:nvSpPr>
        <p:spPr>
          <a:xfrm>
            <a:off x="1485893" y="5274938"/>
            <a:ext cx="9167841" cy="9462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 вычисляется усреднением значений пикселей вдоль строк (в Python: </a:t>
            </a:r>
            <a:r>
              <a:rPr lang="ru-RU" dirty="0" err="1"/>
              <a:t>np.mean</a:t>
            </a:r>
            <a:r>
              <a:rPr lang="ru-RU" dirty="0"/>
              <a:t>(</a:t>
            </a:r>
            <a:r>
              <a:rPr lang="ru-RU" dirty="0" err="1"/>
              <a:t>img</a:t>
            </a:r>
            <a:r>
              <a:rPr lang="ru-RU" dirty="0"/>
              <a:t>, </a:t>
            </a:r>
            <a:r>
              <a:rPr lang="ru-RU" dirty="0" err="1"/>
              <a:t>axis</a:t>
            </a:r>
            <a:r>
              <a:rPr lang="ru-RU" dirty="0"/>
              <a:t>=1)), а вертикальный — усреднением вдоль столбцов (</a:t>
            </a:r>
            <a:r>
              <a:rPr lang="ru-RU" dirty="0" err="1"/>
              <a:t>np.mean</a:t>
            </a:r>
            <a:r>
              <a:rPr lang="ru-RU" dirty="0"/>
              <a:t>(</a:t>
            </a:r>
            <a:r>
              <a:rPr lang="ru-RU" dirty="0" err="1"/>
              <a:t>img</a:t>
            </a:r>
            <a:r>
              <a:rPr lang="ru-RU" dirty="0"/>
              <a:t>, </a:t>
            </a:r>
            <a:r>
              <a:rPr lang="ru-RU" dirty="0" err="1"/>
              <a:t>axis</a:t>
            </a:r>
            <a:r>
              <a:rPr lang="ru-RU" dirty="0"/>
              <a:t>=0)).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0170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78764" y="503478"/>
            <a:ext cx="9182101" cy="7660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487488" y="1109915"/>
            <a:ext cx="91821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5. Что такое проекция изображения?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E4DE-7D6B-49F6-7D70-49D3CC230020}"/>
              </a:ext>
            </a:extLst>
          </p:cNvPr>
          <p:cNvSpPr txBox="1"/>
          <p:nvPr/>
        </p:nvSpPr>
        <p:spPr>
          <a:xfrm>
            <a:off x="1463646" y="1482239"/>
            <a:ext cx="91733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Это одномерный сигнал, полученный путем суммирования (интегрирования) значений пикселей вдоль заданного направления: вдоль строк для горизонтальной проекции (</a:t>
            </a:r>
            <a:r>
              <a:rPr lang="ru-RU" dirty="0" err="1"/>
              <a:t>np.sum</a:t>
            </a:r>
            <a:r>
              <a:rPr lang="ru-RU" dirty="0"/>
              <a:t>(</a:t>
            </a:r>
            <a:r>
              <a:rPr lang="ru-RU" dirty="0" err="1"/>
              <a:t>axis</a:t>
            </a:r>
            <a:r>
              <a:rPr lang="ru-RU" dirty="0"/>
              <a:t>=1)) или вдоль столбцов для вертикальной (</a:t>
            </a:r>
            <a:r>
              <a:rPr lang="ru-RU" dirty="0" err="1"/>
              <a:t>np.sum</a:t>
            </a:r>
            <a:r>
              <a:rPr lang="ru-RU" dirty="0"/>
              <a:t>(</a:t>
            </a:r>
            <a:r>
              <a:rPr lang="ru-RU" dirty="0" err="1"/>
              <a:t>axis</a:t>
            </a:r>
            <a:r>
              <a:rPr lang="ru-RU" dirty="0"/>
              <a:t>=0)).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CE2EF-1E4E-4104-5239-E6203734018B}"/>
              </a:ext>
            </a:extLst>
          </p:cNvPr>
          <p:cNvSpPr txBox="1"/>
          <p:nvPr/>
        </p:nvSpPr>
        <p:spPr>
          <a:xfrm>
            <a:off x="1463646" y="2394463"/>
            <a:ext cx="91821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6. В чём разница между профилем и проекцией изображения?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8668-D6E4-5A1C-E82D-453FBC4EA553}"/>
              </a:ext>
            </a:extLst>
          </p:cNvPr>
          <p:cNvSpPr txBox="1"/>
          <p:nvPr/>
        </p:nvSpPr>
        <p:spPr>
          <a:xfrm>
            <a:off x="1487490" y="3842245"/>
            <a:ext cx="91646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/>
              <a:t>7</a:t>
            </a:r>
            <a:r>
              <a:rPr lang="ru-RU" b="1" dirty="0"/>
              <a:t>. Как гистограмма помогает в улучшении контраста изображения?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D2500-A0A1-8B4C-1976-D68650FD4B24}"/>
              </a:ext>
            </a:extLst>
          </p:cNvPr>
          <p:cNvSpPr txBox="1"/>
          <p:nvPr/>
        </p:nvSpPr>
        <p:spPr>
          <a:xfrm>
            <a:off x="1463646" y="4171948"/>
            <a:ext cx="918210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По ней определяют фактический диапазон яркостей</a:t>
            </a:r>
            <a:r>
              <a:rPr lang="en-US" dirty="0"/>
              <a:t> [</a:t>
            </a:r>
            <a:r>
              <a:rPr lang="en-US" dirty="0" err="1"/>
              <a:t>min,max</a:t>
            </a:r>
            <a:r>
              <a:rPr lang="en-US" dirty="0"/>
              <a:t>]</a:t>
            </a:r>
            <a:r>
              <a:rPr lang="ru-RU" dirty="0"/>
              <a:t>. Если он узкий, с помощью линейного растяжения его расширяют на весь интервал</a:t>
            </a:r>
            <a:r>
              <a:rPr lang="en-US" dirty="0"/>
              <a:t> [0,255]</a:t>
            </a:r>
            <a:r>
              <a:rPr lang="ru-RU" dirty="0"/>
              <a:t>, либо применяют </a:t>
            </a:r>
            <a:r>
              <a:rPr lang="ru-RU" dirty="0" err="1"/>
              <a:t>эквализацию</a:t>
            </a:r>
            <a:r>
              <a:rPr lang="ru-RU" dirty="0"/>
              <a:t> гистограммы для равномерного перераспределения яркостей и проявления скрытых деталей.</a:t>
            </a:r>
            <a:endParaRPr lang="ru-RU" b="1" dirty="0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E5B656E7-25A9-3B44-9104-A4F257D1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8041E8-32F9-ABD8-EC7F-35952EE7A7B5}"/>
              </a:ext>
            </a:extLst>
          </p:cNvPr>
          <p:cNvSpPr txBox="1"/>
          <p:nvPr/>
        </p:nvSpPr>
        <p:spPr>
          <a:xfrm>
            <a:off x="1463646" y="2681545"/>
            <a:ext cx="918210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Профиль рассчитывается через усреднение (</a:t>
            </a:r>
            <a:r>
              <a:rPr lang="ru-RU" dirty="0" err="1"/>
              <a:t>mean</a:t>
            </a:r>
            <a:r>
              <a:rPr lang="ru-RU" dirty="0"/>
              <a:t>) и сохраняет значения в исходном диапазоне яркостей (</a:t>
            </a:r>
            <a:r>
              <a:rPr lang="en-US" dirty="0"/>
              <a:t>0…255)</a:t>
            </a:r>
            <a:r>
              <a:rPr lang="ru-RU" dirty="0"/>
              <a:t> , а проекция рассчитывается через суммирование (</a:t>
            </a:r>
            <a:r>
              <a:rPr lang="ru-RU" dirty="0" err="1"/>
              <a:t>sum</a:t>
            </a:r>
            <a:r>
              <a:rPr lang="ru-RU" dirty="0"/>
              <a:t>) и показывает суммарную накопленную энергию сигнала, зависящую от геометрических размеров кадра.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828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478764" y="503478"/>
            <a:ext cx="9182101" cy="7660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392495" y="1269525"/>
            <a:ext cx="918210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8. Как можно использовать горизонтальные и вертикальные проекции бинарного изображения?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E4DE-7D6B-49F6-7D70-49D3CC230020}"/>
              </a:ext>
            </a:extLst>
          </p:cNvPr>
          <p:cNvSpPr txBox="1"/>
          <p:nvPr/>
        </p:nvSpPr>
        <p:spPr>
          <a:xfrm>
            <a:off x="1401224" y="1790408"/>
            <a:ext cx="917337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Их используют для поиска границ объектов (координат </a:t>
            </a:r>
            <a:r>
              <a:rPr lang="ru-RU" dirty="0" err="1"/>
              <a:t>Bounding</a:t>
            </a:r>
            <a:r>
              <a:rPr lang="ru-RU" dirty="0"/>
              <a:t> Box), разделения строк текста и отдельных букв в задачах OCR, а также для автоматической обрезки пустых полей документа.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CE2EF-1E4E-4104-5239-E6203734018B}"/>
              </a:ext>
            </a:extLst>
          </p:cNvPr>
          <p:cNvSpPr txBox="1"/>
          <p:nvPr/>
        </p:nvSpPr>
        <p:spPr>
          <a:xfrm>
            <a:off x="1401224" y="2649872"/>
            <a:ext cx="918210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b="1" dirty="0"/>
              <a:t>9</a:t>
            </a:r>
            <a:r>
              <a:rPr lang="ru-RU" b="1" dirty="0"/>
              <a:t>.Как изменится гистограмма изображения после применения фильтра сглаживания?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288AE-09CC-5A07-59ED-90CC972FC3F3}"/>
              </a:ext>
            </a:extLst>
          </p:cNvPr>
          <p:cNvSpPr txBox="1"/>
          <p:nvPr/>
        </p:nvSpPr>
        <p:spPr>
          <a:xfrm>
            <a:off x="1392498" y="3172224"/>
            <a:ext cx="918210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Пиксели усредняются с соседями, поэтому крайние значения стягиваются к центру (уменьшается дисперсия), а форма гистограммы становится более плавной — исчезают резкие зубцы и выбросы от шума.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8668-D6E4-5A1C-E82D-453FBC4EA553}"/>
              </a:ext>
            </a:extLst>
          </p:cNvPr>
          <p:cNvSpPr txBox="1"/>
          <p:nvPr/>
        </p:nvSpPr>
        <p:spPr>
          <a:xfrm>
            <a:off x="1402822" y="4051563"/>
            <a:ext cx="91646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b="1" dirty="0"/>
              <a:t>10. Что показывает пик на гистограмме изображения?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D2500-A0A1-8B4C-1976-D68650FD4B24}"/>
              </a:ext>
            </a:extLst>
          </p:cNvPr>
          <p:cNvSpPr txBox="1"/>
          <p:nvPr/>
        </p:nvSpPr>
        <p:spPr>
          <a:xfrm>
            <a:off x="1377382" y="4338214"/>
            <a:ext cx="918210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b="1" dirty="0"/>
              <a:t>Ответ: </a:t>
            </a:r>
            <a:r>
              <a:rPr lang="ru-RU" dirty="0"/>
              <a:t>Пик указывает на преобладание в кадре конкретного уровня яркости, что обычно соответствует большой однородной области — например, фону, сплошной тени или </a:t>
            </a:r>
            <a:r>
              <a:rPr lang="ru-RU" dirty="0" err="1"/>
              <a:t>пересвеченному</a:t>
            </a:r>
            <a:r>
              <a:rPr lang="ru-RU" dirty="0"/>
              <a:t> участку.</a:t>
            </a:r>
            <a:endParaRPr lang="ru-RU" b="1" dirty="0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E5B656E7-25A9-3B44-9104-A4F257D1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7325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0652-C363-06DA-A12C-453394A0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2858293"/>
            <a:ext cx="9180512" cy="114141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0CA38D-6AB6-8BDB-808C-C23C15E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15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845</Words>
  <Application>Microsoft Office PowerPoint</Application>
  <PresentationFormat>Широкоэкранный</PresentationFormat>
  <Paragraphs>79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Тема Office</vt:lpstr>
      <vt:lpstr>Практическая работа №2: Гистограммы, профили и проекции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Temirlan Akramov</dc:creator>
  <cp:lastModifiedBy>Иван Гуров</cp:lastModifiedBy>
  <cp:revision>8</cp:revision>
  <dcterms:created xsi:type="dcterms:W3CDTF">2026-09-16T15:58:33Z</dcterms:created>
  <dcterms:modified xsi:type="dcterms:W3CDTF">2026-09-25T04:46:53Z</dcterms:modified>
</cp:coreProperties>
</file>