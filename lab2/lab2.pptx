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85" r:id="rId3"/>
    <p:sldId id="283" r:id="rId4"/>
    <p:sldId id="276" r:id="rId5"/>
    <p:sldId id="284" r:id="rId6"/>
    <p:sldId id="258" r:id="rId7"/>
    <p:sldId id="277" r:id="rId8"/>
    <p:sldId id="261" r:id="rId9"/>
    <p:sldId id="278" r:id="rId10"/>
    <p:sldId id="262" r:id="rId11"/>
    <p:sldId id="279" r:id="rId12"/>
    <p:sldId id="263" r:id="rId13"/>
    <p:sldId id="280" r:id="rId14"/>
    <p:sldId id="264" r:id="rId15"/>
    <p:sldId id="274" r:id="rId16"/>
    <p:sldId id="281" r:id="rId17"/>
    <p:sldId id="282" r:id="rId18"/>
    <p:sldId id="275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orient="horz" pos="3974" userDrawn="1">
          <p15:clr>
            <a:srgbClr val="A4A3A4"/>
          </p15:clr>
        </p15:guide>
        <p15:guide id="3" pos="937" userDrawn="1">
          <p15:clr>
            <a:srgbClr val="A4A3A4"/>
          </p15:clr>
        </p15:guide>
        <p15:guide id="4" pos="6720" userDrawn="1">
          <p15:clr>
            <a:srgbClr val="A4A3A4"/>
          </p15:clr>
        </p15:guide>
        <p15:guide id="5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43" d="100"/>
          <a:sy n="43" d="100"/>
        </p:scale>
        <p:origin x="48" y="564"/>
      </p:cViewPr>
      <p:guideLst>
        <p:guide orient="horz" pos="346"/>
        <p:guide orient="horz" pos="3974"/>
        <p:guide pos="937"/>
        <p:guide pos="672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8FABF-92EB-4A28-9D96-EEEDC3A31D40}" type="datetimeFigureOut">
              <a:rPr lang="ru-RU" smtClean="0"/>
              <a:t>25.09.2026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87C420-320D-43F3-8A1E-7EA6D07B5A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3086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A4CA74-5891-0962-7F34-2D269883BC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64628B-ACFC-48BD-994A-A45DD37153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AB6A32-3498-D97F-C566-BFD3B9D03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DEE1F-2934-495D-856C-8D902092E890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6321E8-D9B6-367F-E84E-51DDB4F6E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59484B-4F4B-27E6-B99D-C697E1307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252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5D697F-B881-D447-A8A1-3653B7B02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B53F89-90BF-2629-502D-5931D406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F6EA5B8-4726-9188-6115-B89106A16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4DE2A-647D-4500-9D2E-502AC02C4614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B00C1B-CF92-0371-90DB-79F8D564C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A90595D-A75F-CAB5-AE90-E3E07EB49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1387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0A941C-ACAE-B768-7847-E6775439C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E1B2D38-00F6-3DFA-E503-F0C09CEA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EFF993-96BC-9FC1-91ED-92777C561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44451-672F-45F1-88E4-8B4F5094B741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EF5120-F671-1C1E-3C47-E98D2E581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00AE5C-F751-1159-5464-822147EB9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0504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389D2C-3651-CAFC-EF50-E83DF2EDB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247EC4-6DE9-B843-CAF2-ECE6808F64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E7E96C9-AD9C-F0F3-2E8C-448EA93C8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71F51A0-F82C-0F42-DA6A-C48D9844F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36CC5-59D3-433C-92EF-64C02CE878DA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F83A810-3FD3-3810-80CA-B4428307C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F73FCE-213E-6581-2041-1B43E3B93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4679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E52D6-1E2A-DE3E-2D07-2E3639A0F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A30DD91-D018-EAF1-500D-F8F9F4BF3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DA85A0B-BEBB-9177-5351-7804EF964F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61C7659-04A4-F62B-7725-6100AA605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367E88D-9109-7F25-8154-BFA4446255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6E328C5-8E0E-C1ED-C124-4D6E58853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5CA7-9EF3-40A2-95F2-8EF16B26BE6A}" type="datetime1">
              <a:rPr lang="ru-RU" smtClean="0"/>
              <a:t>25.09.2026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485F774-367D-382E-36A4-B02393AB6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D2816B7-62C6-5A7E-6221-A1C3BFAD7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821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992608-AD05-9047-97D8-E93C65FFE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8238BA-2101-77D5-A4A4-FC7194BAF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9540-2548-477D-A6DA-EDB84F67A50B}" type="datetime1">
              <a:rPr lang="ru-RU" smtClean="0"/>
              <a:t>25.09.2026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ABF0DD2-0F4D-22FB-9506-1208C7DDE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478D59-A710-67CE-9B76-A263D4B06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9252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58E2444-CD58-EA1B-B50E-CE11C519D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2C029-194E-49EB-BA02-35756DA27575}" type="datetime1">
              <a:rPr lang="ru-RU" smtClean="0"/>
              <a:t>25.09.2026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610BB43-416E-C502-0F45-D775BEC01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87ECDD-7BAF-97B9-6CBB-FC6C011F4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1106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0987DC-2CF0-A417-54B2-EB45847C1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BBB83F4-BB96-ABA4-D745-BFF31E9D1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903BE5-A6FD-B9F1-B587-54F7D6F79F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0B34B-03D1-CB35-F9AE-9676E7561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9CD5A-8A32-448E-8FB6-21BB2461D800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EEDB42-EF94-B74D-FFE7-AEEBCE667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9CE31A8-9A03-2ECD-356B-105A2DC52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3009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9275C9-7E70-5004-7B95-36350E0F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2B57CA-452A-2A34-7E96-F835183AF1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A32018-C8DE-2E14-570A-477764094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5C992C-AA87-E56F-BF8D-ACB7934F4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9BF4E-BA3A-41CB-9559-EB408650D4F0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000FC96-E622-5106-A5AE-813FA528A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153811D-1610-9287-2708-3EC0E4811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7304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E11837-011F-931C-53F9-AC857C4D4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8E5D3AE-FF19-7B37-DAA8-952CF5644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72F4D5-4F29-AAA2-D0B8-ED332AE17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7BD34-D32B-4D72-9CBA-4E8D578FEEE7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FCD33D-1639-1C28-89A1-B4CD79954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0FF268-F5B4-B806-9A84-E613BB981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4017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A6B3C08-346F-3C81-D7C3-470FD0CC6A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B13B125-F7C1-BA50-74E5-9532D7DB4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94640D-C2A1-81D1-B46A-EC3CD65DF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685BE-6B8F-41F3-A0F2-64C4E49B1807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06C275-6A53-9424-13E9-EDB738B09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05B914-D3CF-239C-B60A-DA29285D1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5092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10D70B-ECE8-4548-DCA1-2D3D51054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D11D8A-F8B5-F07E-8C28-BD7E27E8E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F890C8-E192-9413-A04C-AF73FBE9A0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FBBDD-9558-4802-8A3E-66A2C0A2BB66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482FD1-0430-A04B-58D3-01321D466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547C9A9-A8A9-77B5-50C8-66103CF77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9655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FD6347-2948-828C-BECF-D54422C54C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7488" y="2239002"/>
            <a:ext cx="9180512" cy="2047248"/>
          </a:xfrm>
        </p:spPr>
        <p:txBody>
          <a:bodyPr anchor="ctr">
            <a:noAutofit/>
          </a:bodyPr>
          <a:lstStyle/>
          <a:p>
            <a:r>
              <a:rPr lang="ru-RU" sz="4500" dirty="0"/>
              <a:t>Практическая работа №</a:t>
            </a:r>
            <a:r>
              <a:rPr lang="en-US" sz="4500" dirty="0"/>
              <a:t>2</a:t>
            </a:r>
            <a:r>
              <a:rPr lang="ru-RU" sz="4500" dirty="0"/>
              <a:t>:</a:t>
            </a:r>
            <a:br>
              <a:rPr lang="ru-RU" sz="4500" dirty="0"/>
            </a:br>
            <a:r>
              <a:rPr lang="ru-RU" sz="4500" b="1" dirty="0"/>
              <a:t>Гистограммы, профили и проекции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71C6DBC-CA8F-F90E-3B35-57B4F6F4A0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7488" y="4286250"/>
            <a:ext cx="9180512" cy="404478"/>
          </a:xfrm>
        </p:spPr>
        <p:txBody>
          <a:bodyPr anchor="ctr">
            <a:normAutofit lnSpcReduction="10000"/>
          </a:bodyPr>
          <a:lstStyle/>
          <a:p>
            <a:r>
              <a:rPr lang="ru-RU" dirty="0"/>
              <a:t>Вариант №3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5BA5D-C693-EE1D-CB03-23984F88CBB5}"/>
              </a:ext>
            </a:extLst>
          </p:cNvPr>
          <p:cNvSpPr txBox="1"/>
          <p:nvPr/>
        </p:nvSpPr>
        <p:spPr>
          <a:xfrm>
            <a:off x="7972926" y="5354618"/>
            <a:ext cx="26950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Работу выполнили:</a:t>
            </a:r>
            <a:br>
              <a:rPr lang="ru-RU" sz="1400" dirty="0"/>
            </a:br>
            <a:r>
              <a:rPr lang="ru-RU" sz="1400" dirty="0"/>
              <a:t>студенты 932302 группы</a:t>
            </a:r>
            <a:br>
              <a:rPr lang="ru-RU" sz="1400" dirty="0"/>
            </a:br>
            <a:r>
              <a:rPr lang="ru-RU" sz="1400" dirty="0"/>
              <a:t>Акрамов </a:t>
            </a:r>
            <a:r>
              <a:rPr lang="ru-RU" sz="1400" dirty="0" err="1"/>
              <a:t>Темирлан</a:t>
            </a:r>
            <a:r>
              <a:rPr lang="ru-RU" sz="1400" dirty="0"/>
              <a:t>,</a:t>
            </a:r>
            <a:br>
              <a:rPr lang="ru-RU" sz="1400" dirty="0"/>
            </a:br>
            <a:r>
              <a:rPr lang="ru-RU" sz="1400" dirty="0"/>
              <a:t>Гуров Иван</a:t>
            </a:r>
          </a:p>
        </p:txBody>
      </p:sp>
    </p:spTree>
    <p:extLst>
      <p:ext uri="{BB962C8B-B14F-4D97-AF65-F5344CB8AC3E}">
        <p14:creationId xmlns:p14="http://schemas.microsoft.com/office/powerpoint/2010/main" val="688284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75B349-53B7-2440-E02F-489C9877A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800" b="1" dirty="0">
                <a:latin typeface="+mn-lt"/>
              </a:rPr>
              <a:t>Задания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4A078A-D5D7-5B07-C4F8-ADB919DBB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dirty="0"/>
              <a:t>1. Построить гистограмму изображения и определить минимум,</a:t>
            </a:r>
          </a:p>
          <a:p>
            <a:pPr marL="0" indent="0">
              <a:buNone/>
            </a:pPr>
            <a:r>
              <a:rPr lang="ru-RU" dirty="0"/>
              <a:t>максимум и медиану яркости.</a:t>
            </a:r>
          </a:p>
          <a:p>
            <a:pPr marL="0" indent="0">
              <a:buNone/>
            </a:pPr>
            <a:r>
              <a:rPr lang="ru-RU" dirty="0"/>
              <a:t>2. Построить профили изображения после применения фильтра «</a:t>
            </a:r>
            <a:r>
              <a:rPr lang="ru-RU" dirty="0" err="1"/>
              <a:t>Собель</a:t>
            </a:r>
            <a:r>
              <a:rPr lang="ru-RU" dirty="0"/>
              <a:t>»</a:t>
            </a:r>
          </a:p>
          <a:p>
            <a:pPr marL="0" indent="0">
              <a:buNone/>
            </a:pPr>
            <a:r>
              <a:rPr lang="ru-RU" dirty="0"/>
              <a:t>по X и Y.</a:t>
            </a:r>
          </a:p>
          <a:p>
            <a:pPr marL="0" indent="0">
              <a:buNone/>
            </a:pPr>
            <a:r>
              <a:rPr lang="ru-RU" dirty="0"/>
              <a:t>3. Построить горизонтальную и вертикальную проекции цветного</a:t>
            </a:r>
          </a:p>
          <a:p>
            <a:pPr marL="0" indent="0">
              <a:buNone/>
            </a:pPr>
            <a:r>
              <a:rPr lang="ru-RU" dirty="0"/>
              <a:t>изображения (суммируя по каналам).</a:t>
            </a:r>
          </a:p>
          <a:p>
            <a:pPr marL="0" indent="0">
              <a:buNone/>
            </a:pPr>
            <a:r>
              <a:rPr lang="ru-RU" dirty="0"/>
              <a:t>4. Найти строки с пикселями выше порога в горизонтальной проекции</a:t>
            </a:r>
          </a:p>
          <a:p>
            <a:pPr marL="0" indent="0">
              <a:buNone/>
            </a:pPr>
            <a:r>
              <a:rPr lang="ru-RU" dirty="0"/>
              <a:t>бинарного изображения.</a:t>
            </a:r>
          </a:p>
          <a:p>
            <a:pPr marL="0" indent="0">
              <a:buNone/>
            </a:pPr>
            <a:r>
              <a:rPr lang="ru-RU" dirty="0"/>
              <a:t>5. Найти столбцы с пикселями выше порога в вертикальной проекции</a:t>
            </a:r>
          </a:p>
          <a:p>
            <a:pPr marL="0" indent="0">
              <a:buNone/>
            </a:pPr>
            <a:r>
              <a:rPr lang="ru-RU" dirty="0"/>
              <a:t>бинарного изображения.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A1EA1AE-2C5B-FB9C-5E04-AC6D5FF9E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4431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65739"/>
            <a:ext cx="921277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/>
              <a:t>Загрузка данных и предварительная обработка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387094"/>
            <a:ext cx="9182101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Подготовить рабочие матрицы изображения: цветную 3-канальную для проекций и одноканальную полутоновую для яркостного, градиентного и порогового анализа.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3</a:t>
            </a:fld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6975D0-3FE8-F536-B4B4-C5293468EAA7}"/>
              </a:ext>
            </a:extLst>
          </p:cNvPr>
          <p:cNvSpPr txBox="1"/>
          <p:nvPr/>
        </p:nvSpPr>
        <p:spPr>
          <a:xfrm>
            <a:off x="3990372" y="2718969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CAE59A-D109-2FEA-8BCC-B05AF9AE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753" y="3133725"/>
            <a:ext cx="7972425" cy="372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37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65739"/>
            <a:ext cx="921277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/>
              <a:t>Загрузка данных и предварительная обработка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387094"/>
            <a:ext cx="9182101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Подготовить рабочие матрицы изображения: цветную 3-канальную для проекций и одноканальную полутоновую для яркостного, градиентного и порогового анализа.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577488" y="2700892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4</a:t>
            </a:fld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6975D0-3FE8-F536-B4B4-C5293468EAA7}"/>
              </a:ext>
            </a:extLst>
          </p:cNvPr>
          <p:cNvSpPr txBox="1"/>
          <p:nvPr/>
        </p:nvSpPr>
        <p:spPr>
          <a:xfrm>
            <a:off x="6410681" y="2700892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B9E41E4-1459-349F-BF41-1D590EEA2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488" y="3184525"/>
            <a:ext cx="4295775" cy="3171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4DDF920-6EE6-4DDB-C430-BC12D8C2F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5137" y="3070224"/>
            <a:ext cx="359092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735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AF131A3-F280-6FA9-7F99-F716D5180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2485449"/>
            <a:ext cx="8403565" cy="41243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350296"/>
            <a:ext cx="9212778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1. Анализ распределения яркости изображения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540983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гистограмму изображения и определить минимум, максимум и медиану яркости.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5</a:t>
            </a:fld>
            <a:endParaRPr lang="ru-RU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A6B45B3-B477-97EC-A0A9-BE0AB74A9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34" y="2530864"/>
            <a:ext cx="3281051" cy="336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767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350296"/>
            <a:ext cx="9212778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1. Анализ распределения яркости изображения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540983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гистограмму изображения и определить минимум, максимум и медиану яркости.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6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E58225-5E34-0BC6-C874-7D617848B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9253" y="3661760"/>
            <a:ext cx="3417438" cy="95410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35C8B5E-4F8B-ED3A-D791-3D8C544C6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869" y="2248869"/>
            <a:ext cx="4363064" cy="460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063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96B558D-B8E6-F553-978C-76716F749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367" y="2167887"/>
            <a:ext cx="7887778" cy="43710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9609" y="137169"/>
            <a:ext cx="9212778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2. Градиентные профили (Фильтр </a:t>
            </a:r>
            <a:r>
              <a:rPr lang="ru-RU" sz="2800" b="1" dirty="0" err="1">
                <a:latin typeface="+mj-lt"/>
              </a:rPr>
              <a:t>Собеля</a:t>
            </a:r>
            <a:r>
              <a:rPr lang="ru-RU" sz="2800" b="1" dirty="0">
                <a:latin typeface="+mj-lt"/>
              </a:rPr>
              <a:t> по X и Y)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08" y="1336088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профили изображения после применения фильтра «</a:t>
            </a:r>
            <a:r>
              <a:rPr lang="ru-RU" sz="2000" dirty="0" err="1"/>
              <a:t>Собель</a:t>
            </a:r>
            <a:r>
              <a:rPr lang="ru-RU" sz="2000" dirty="0"/>
              <a:t>» по X и Y.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E68AB01A-8F4E-E197-5EE4-ADA4BA8CC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7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E98B2E-4C4E-CE77-BD45-D5403CB95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42" y="2510311"/>
            <a:ext cx="359092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051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9609" y="137169"/>
            <a:ext cx="9212778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2. Градиентные профили (Фильтр </a:t>
            </a:r>
            <a:r>
              <a:rPr lang="ru-RU" sz="2800" b="1" dirty="0" err="1">
                <a:latin typeface="+mj-lt"/>
              </a:rPr>
              <a:t>Собеля</a:t>
            </a:r>
            <a:r>
              <a:rPr lang="ru-RU" sz="2800" b="1" dirty="0">
                <a:latin typeface="+mj-lt"/>
              </a:rPr>
              <a:t> по X и Y)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08" y="1336088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профили изображения после применения фильтра «</a:t>
            </a:r>
            <a:r>
              <a:rPr lang="ru-RU" sz="2000" dirty="0" err="1"/>
              <a:t>Собель</a:t>
            </a:r>
            <a:r>
              <a:rPr lang="ru-RU" sz="2000" dirty="0"/>
              <a:t>» по X и 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098" y="2045472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E68AB01A-8F4E-E197-5EE4-ADA4BA8CC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8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2944396-69D4-932C-8309-DE4F20384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238" y="2613025"/>
            <a:ext cx="4257675" cy="37433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DDF10CE-5E4D-B6FE-824F-C2763B14A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693" y="2609487"/>
            <a:ext cx="4295775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95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2190" y="549275"/>
            <a:ext cx="918581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3. Интегральные проекции цветного изображения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3988193" y="2726524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081176-D1EE-00B4-D512-DF4558557F7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горизонтальную и вертикальную проекции цветного изображения (суммируя по каналам).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684D501B-E133-D9A8-6B7A-D563CF6B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9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F16BDD3-3930-D740-B34C-99BC12F2A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11" y="3249642"/>
            <a:ext cx="10544175" cy="27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5114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2190" y="549275"/>
            <a:ext cx="918581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3. Интегральные проекции цветного изображения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3491513" y="4089955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081176-D1EE-00B4-D512-DF4558557F7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горизонтальную и вертикальную проекции цветного изображения (суммируя по каналам).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684D501B-E133-D9A8-6B7A-D563CF6B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10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D5D7368-5656-7936-E8AB-C3EDD6992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0" y="2197100"/>
            <a:ext cx="3657600" cy="452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17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строки с пикселями выше порога в горизонтальной проекции бинарного изображения.	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892" y="2748518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A0700A-D1A3-CABA-8257-0049F29CEB91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4. Поиск значимых строк бинарного кадра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D7BD2D-450B-9072-1CC3-235F616A2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E968137-4B8F-6A7A-ADF6-1A9AB8486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141" y="3252158"/>
            <a:ext cx="8747760" cy="32004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7F3C5DF-D82D-E762-51CF-45DCADDF7E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378" y="3252158"/>
            <a:ext cx="2849763" cy="2925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8472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строки с пикселями выше порога в горизонтальной проекции бинарного изображения.	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A0700A-D1A3-CABA-8257-0049F29CEB91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4. Поиск значимых строк бинарного кадра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D7BD2D-450B-9072-1CC3-235F616A2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BC3537-6377-59E9-4C4F-C4A540AAF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18" y="2531253"/>
            <a:ext cx="5410200" cy="32385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8B78252-74E5-CF6F-F35F-27F20D4E6A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164" y="2531253"/>
            <a:ext cx="4352925" cy="2667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AA1FF56-34EE-391B-ECC3-2FB43FAFB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4325" y="5317869"/>
            <a:ext cx="6001651" cy="844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614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891" y="2752128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717830-3824-984A-0FE8-3764A8CCF5E4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5. Поиск значимых столбцов бинарного кадра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1F59B-B0EE-8AD8-BE35-7EF5C245174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столбцы с пикселями выше порога в вертикальной проекции бинарного изображения.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F13964B-87DF-AA68-A2E5-441A8684E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4FE79C-44D8-DA63-4033-B5D83D86C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032" y="3121460"/>
            <a:ext cx="10144125" cy="3705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580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717830-3824-984A-0FE8-3764A8CCF5E4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5. Поиск значимых столбцов бинарного кадра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1F59B-B0EE-8AD8-BE35-7EF5C245174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столбцы с пикселями выше порога в вертикальной проекции бинарного изображения.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F13964B-87DF-AA68-A2E5-441A8684E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C9FF70C-76A5-0748-322E-4C1136A5E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416" y="2752128"/>
            <a:ext cx="4810125" cy="292417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9192EF-42ED-F09F-73A4-1970B91FA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785" y="2752128"/>
            <a:ext cx="4724400" cy="26860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AF52D7F-5530-F622-61EC-F340DB8663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653" y="5543321"/>
            <a:ext cx="5295532" cy="707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0658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78764" y="503478"/>
            <a:ext cx="9182101" cy="76604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7488" y="1109915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1. Что такое гистограмма изображения и для чего она используется?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5E4DE-7D6B-49F6-7D70-49D3CC230020}"/>
              </a:ext>
            </a:extLst>
          </p:cNvPr>
          <p:cNvSpPr txBox="1"/>
          <p:nvPr/>
        </p:nvSpPr>
        <p:spPr>
          <a:xfrm>
            <a:off x="1487488" y="1399970"/>
            <a:ext cx="9173377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Это график статистического распределения пикселей по уровням яркости (от 0 до 255). Она используется для оценки освещенности и контрастности кадра, выбора порогов сегментации (например, метода </a:t>
            </a:r>
            <a:r>
              <a:rPr lang="ru-RU" dirty="0" err="1"/>
              <a:t>Оцу</a:t>
            </a:r>
            <a:r>
              <a:rPr lang="ru-RU" dirty="0"/>
              <a:t>) и коррекции тонового баланса (</a:t>
            </a:r>
            <a:r>
              <a:rPr lang="ru-RU" dirty="0" err="1"/>
              <a:t>эквализации</a:t>
            </a:r>
            <a:r>
              <a:rPr lang="ru-RU" dirty="0"/>
              <a:t>).</a:t>
            </a:r>
            <a:endParaRPr lang="ru-RU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CE2EF-1E4E-4104-5239-E6203734018B}"/>
              </a:ext>
            </a:extLst>
          </p:cNvPr>
          <p:cNvSpPr txBox="1"/>
          <p:nvPr/>
        </p:nvSpPr>
        <p:spPr>
          <a:xfrm>
            <a:off x="1487488" y="2536432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2. Чем отличается гистограмма цветного изображения от серого?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6288AE-09CC-5A07-59ED-90CC972FC3F3}"/>
              </a:ext>
            </a:extLst>
          </p:cNvPr>
          <p:cNvSpPr txBox="1"/>
          <p:nvPr/>
        </p:nvSpPr>
        <p:spPr>
          <a:xfrm>
            <a:off x="1463646" y="2855227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Для серого (полутонового) изображения строится одна гистограмма общей яркости. Для цветного изображения строятся три отдельные гистограммы по каждому каналу (R, G, B) либо трехмерная гистограмма цветовых сочетаний.</a:t>
            </a:r>
            <a:endParaRPr lang="ru-RU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6A8668-D6E4-5A1C-E82D-453FBC4EA553}"/>
              </a:ext>
            </a:extLst>
          </p:cNvPr>
          <p:cNvSpPr txBox="1"/>
          <p:nvPr/>
        </p:nvSpPr>
        <p:spPr>
          <a:xfrm>
            <a:off x="1489086" y="3799624"/>
            <a:ext cx="916464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3. Что такое профиль изображения?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0D2500-A0A1-8B4C-1976-D68650FD4B24}"/>
              </a:ext>
            </a:extLst>
          </p:cNvPr>
          <p:cNvSpPr txBox="1"/>
          <p:nvPr/>
        </p:nvSpPr>
        <p:spPr>
          <a:xfrm>
            <a:off x="1463646" y="4086275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Это одномерный график изменения интенсивности (яркости) пикселей вдоль заданной линии: либо срез по одной конкретной строке/столбцу, либо усредненное значение яркости строк или столбцов всего изображения.</a:t>
            </a:r>
            <a:endParaRPr lang="ru-RU" b="1" dirty="0"/>
          </a:p>
        </p:txBody>
      </p:sp>
      <p:sp>
        <p:nvSpPr>
          <p:cNvPr id="15" name="Номер слайда 14">
            <a:extLst>
              <a:ext uri="{FF2B5EF4-FFF2-40B4-BE49-F238E27FC236}">
                <a16:creationId xmlns:a16="http://schemas.microsoft.com/office/drawing/2014/main" id="{E5B656E7-25A9-3B44-9104-A4F257D11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CB03C1-0B76-2E08-203C-12C1A8C68811}"/>
              </a:ext>
            </a:extLst>
          </p:cNvPr>
          <p:cNvSpPr txBox="1"/>
          <p:nvPr/>
        </p:nvSpPr>
        <p:spPr>
          <a:xfrm>
            <a:off x="1478762" y="4972560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4. Как вычисляется горизонтальный и вертикальный профиль?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4C8A30-3803-DF2B-B667-815A58C44D49}"/>
              </a:ext>
            </a:extLst>
          </p:cNvPr>
          <p:cNvSpPr txBox="1"/>
          <p:nvPr/>
        </p:nvSpPr>
        <p:spPr>
          <a:xfrm>
            <a:off x="1485893" y="5274938"/>
            <a:ext cx="9167841" cy="94629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 вычисляется усреднением значений пикселей вдоль строк (в Python: </a:t>
            </a:r>
            <a:r>
              <a:rPr lang="ru-RU" dirty="0" err="1"/>
              <a:t>np.mean</a:t>
            </a:r>
            <a:r>
              <a:rPr lang="ru-RU" dirty="0"/>
              <a:t>(</a:t>
            </a:r>
            <a:r>
              <a:rPr lang="ru-RU" dirty="0" err="1"/>
              <a:t>img</a:t>
            </a:r>
            <a:r>
              <a:rPr lang="ru-RU" dirty="0"/>
              <a:t>, </a:t>
            </a:r>
            <a:r>
              <a:rPr lang="ru-RU" dirty="0" err="1"/>
              <a:t>axis</a:t>
            </a:r>
            <a:r>
              <a:rPr lang="ru-RU" dirty="0"/>
              <a:t>=1)), а вертикальный — усреднением вдоль столбцов (</a:t>
            </a:r>
            <a:r>
              <a:rPr lang="ru-RU" dirty="0" err="1"/>
              <a:t>np.mean</a:t>
            </a:r>
            <a:r>
              <a:rPr lang="ru-RU" dirty="0"/>
              <a:t>(</a:t>
            </a:r>
            <a:r>
              <a:rPr lang="ru-RU" dirty="0" err="1"/>
              <a:t>img</a:t>
            </a:r>
            <a:r>
              <a:rPr lang="ru-RU" dirty="0"/>
              <a:t>, </a:t>
            </a:r>
            <a:r>
              <a:rPr lang="ru-RU" dirty="0" err="1"/>
              <a:t>axis</a:t>
            </a:r>
            <a:r>
              <a:rPr lang="ru-RU" dirty="0"/>
              <a:t>=0)).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560170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78764" y="503478"/>
            <a:ext cx="9182101" cy="76604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7488" y="1109915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5. Что такое проекция изображения?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5E4DE-7D6B-49F6-7D70-49D3CC230020}"/>
              </a:ext>
            </a:extLst>
          </p:cNvPr>
          <p:cNvSpPr txBox="1"/>
          <p:nvPr/>
        </p:nvSpPr>
        <p:spPr>
          <a:xfrm>
            <a:off x="1463646" y="1482239"/>
            <a:ext cx="9173377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Это одномерный сигнал, полученный путем суммирования (интегрирования) значений пикселей вдоль заданного направления: вдоль строк для горизонтальной проекции (</a:t>
            </a:r>
            <a:r>
              <a:rPr lang="ru-RU" dirty="0" err="1"/>
              <a:t>np.sum</a:t>
            </a:r>
            <a:r>
              <a:rPr lang="ru-RU" dirty="0"/>
              <a:t>(</a:t>
            </a:r>
            <a:r>
              <a:rPr lang="ru-RU" dirty="0" err="1"/>
              <a:t>axis</a:t>
            </a:r>
            <a:r>
              <a:rPr lang="ru-RU" dirty="0"/>
              <a:t>=1)) или вдоль столбцов для вертикальной (</a:t>
            </a:r>
            <a:r>
              <a:rPr lang="ru-RU" dirty="0" err="1"/>
              <a:t>np.sum</a:t>
            </a:r>
            <a:r>
              <a:rPr lang="ru-RU" dirty="0"/>
              <a:t>(</a:t>
            </a:r>
            <a:r>
              <a:rPr lang="ru-RU" dirty="0" err="1"/>
              <a:t>axis</a:t>
            </a:r>
            <a:r>
              <a:rPr lang="ru-RU" dirty="0"/>
              <a:t>=0)).</a:t>
            </a:r>
            <a:endParaRPr lang="ru-RU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CE2EF-1E4E-4104-5239-E6203734018B}"/>
              </a:ext>
            </a:extLst>
          </p:cNvPr>
          <p:cNvSpPr txBox="1"/>
          <p:nvPr/>
        </p:nvSpPr>
        <p:spPr>
          <a:xfrm>
            <a:off x="1463646" y="2394463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6. В чём разница между профилем и проекцией изображения?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6A8668-D6E4-5A1C-E82D-453FBC4EA553}"/>
              </a:ext>
            </a:extLst>
          </p:cNvPr>
          <p:cNvSpPr txBox="1"/>
          <p:nvPr/>
        </p:nvSpPr>
        <p:spPr>
          <a:xfrm>
            <a:off x="1487490" y="3842245"/>
            <a:ext cx="916464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b="1" dirty="0"/>
              <a:t>7</a:t>
            </a:r>
            <a:r>
              <a:rPr lang="ru-RU" b="1" dirty="0"/>
              <a:t>. Как гистограмма помогает в улучшении контраста изображения?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0D2500-A0A1-8B4C-1976-D68650FD4B24}"/>
              </a:ext>
            </a:extLst>
          </p:cNvPr>
          <p:cNvSpPr txBox="1"/>
          <p:nvPr/>
        </p:nvSpPr>
        <p:spPr>
          <a:xfrm>
            <a:off x="1463646" y="4171948"/>
            <a:ext cx="9182106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По ней определяют фактический диапазон яркостей</a:t>
            </a:r>
            <a:r>
              <a:rPr lang="en-US" dirty="0"/>
              <a:t> [</a:t>
            </a:r>
            <a:r>
              <a:rPr lang="en-US" dirty="0" err="1"/>
              <a:t>min,max</a:t>
            </a:r>
            <a:r>
              <a:rPr lang="en-US" dirty="0"/>
              <a:t>]</a:t>
            </a:r>
            <a:r>
              <a:rPr lang="ru-RU" dirty="0"/>
              <a:t>. Если он узкий, с помощью линейного растяжения его расширяют на весь интервал</a:t>
            </a:r>
            <a:r>
              <a:rPr lang="en-US" dirty="0"/>
              <a:t> [0,255]</a:t>
            </a:r>
            <a:r>
              <a:rPr lang="ru-RU" dirty="0"/>
              <a:t>, либо применяют </a:t>
            </a:r>
            <a:r>
              <a:rPr lang="ru-RU" dirty="0" err="1"/>
              <a:t>эквализацию</a:t>
            </a:r>
            <a:r>
              <a:rPr lang="ru-RU" dirty="0"/>
              <a:t> гистограммы для равномерного перераспределения яркостей и проявления скрытых деталей.</a:t>
            </a:r>
            <a:endParaRPr lang="ru-RU" b="1" dirty="0"/>
          </a:p>
        </p:txBody>
      </p:sp>
      <p:sp>
        <p:nvSpPr>
          <p:cNvPr id="15" name="Номер слайда 14">
            <a:extLst>
              <a:ext uri="{FF2B5EF4-FFF2-40B4-BE49-F238E27FC236}">
                <a16:creationId xmlns:a16="http://schemas.microsoft.com/office/drawing/2014/main" id="{E5B656E7-25A9-3B44-9104-A4F257D11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8041E8-32F9-ABD8-EC7F-35952EE7A7B5}"/>
              </a:ext>
            </a:extLst>
          </p:cNvPr>
          <p:cNvSpPr txBox="1"/>
          <p:nvPr/>
        </p:nvSpPr>
        <p:spPr>
          <a:xfrm>
            <a:off x="1463646" y="2681545"/>
            <a:ext cx="9182106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Профиль рассчитывается через усреднение (</a:t>
            </a:r>
            <a:r>
              <a:rPr lang="ru-RU" dirty="0" err="1"/>
              <a:t>mean</a:t>
            </a:r>
            <a:r>
              <a:rPr lang="ru-RU" dirty="0"/>
              <a:t>) и сохраняет значения в исходном диапазоне яркостей (</a:t>
            </a:r>
            <a:r>
              <a:rPr lang="en-US" dirty="0"/>
              <a:t>0…255)</a:t>
            </a:r>
            <a:r>
              <a:rPr lang="ru-RU" dirty="0"/>
              <a:t> , а проекция рассчитывается через суммирование (</a:t>
            </a:r>
            <a:r>
              <a:rPr lang="ru-RU" dirty="0" err="1"/>
              <a:t>sum</a:t>
            </a:r>
            <a:r>
              <a:rPr lang="ru-RU" dirty="0"/>
              <a:t>) и показывает суммарную накопленную энергию сигнала, зависящую от геометрических размеров кадра.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4082873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78764" y="503478"/>
            <a:ext cx="9182101" cy="76604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392495" y="1269525"/>
            <a:ext cx="91821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8. Как можно использовать горизонтальные и вертикальные проекции бинарного изображения?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5E4DE-7D6B-49F6-7D70-49D3CC230020}"/>
              </a:ext>
            </a:extLst>
          </p:cNvPr>
          <p:cNvSpPr txBox="1"/>
          <p:nvPr/>
        </p:nvSpPr>
        <p:spPr>
          <a:xfrm>
            <a:off x="1401224" y="1790408"/>
            <a:ext cx="9173377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Их используют для поиска границ объектов (координат </a:t>
            </a:r>
            <a:r>
              <a:rPr lang="ru-RU" dirty="0" err="1"/>
              <a:t>Bounding</a:t>
            </a:r>
            <a:r>
              <a:rPr lang="ru-RU" dirty="0"/>
              <a:t> Box), разделения строк текста и отдельных букв в задачах OCR, а также для автоматической обрезки пустых полей документа.</a:t>
            </a:r>
            <a:endParaRPr lang="ru-RU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CE2EF-1E4E-4104-5239-E6203734018B}"/>
              </a:ext>
            </a:extLst>
          </p:cNvPr>
          <p:cNvSpPr txBox="1"/>
          <p:nvPr/>
        </p:nvSpPr>
        <p:spPr>
          <a:xfrm>
            <a:off x="1401224" y="2649872"/>
            <a:ext cx="91821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en-US" b="1" dirty="0"/>
              <a:t>9</a:t>
            </a:r>
            <a:r>
              <a:rPr lang="ru-RU" b="1" dirty="0"/>
              <a:t>.Как изменится гистограмма изображения после применения фильтра сглаживания?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6288AE-09CC-5A07-59ED-90CC972FC3F3}"/>
              </a:ext>
            </a:extLst>
          </p:cNvPr>
          <p:cNvSpPr txBox="1"/>
          <p:nvPr/>
        </p:nvSpPr>
        <p:spPr>
          <a:xfrm>
            <a:off x="1392498" y="3172224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Пиксели усредняются с соседями, поэтому крайние значения стягиваются к центру (уменьшается дисперсия), а форма гистограммы становится более плавной — исчезают резкие зубцы и выбросы от шума.</a:t>
            </a:r>
            <a:endParaRPr lang="ru-RU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6A8668-D6E4-5A1C-E82D-453FBC4EA553}"/>
              </a:ext>
            </a:extLst>
          </p:cNvPr>
          <p:cNvSpPr txBox="1"/>
          <p:nvPr/>
        </p:nvSpPr>
        <p:spPr>
          <a:xfrm>
            <a:off x="1402822" y="4051563"/>
            <a:ext cx="916464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10. Что показывает пик на гистограмме изображения?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0D2500-A0A1-8B4C-1976-D68650FD4B24}"/>
              </a:ext>
            </a:extLst>
          </p:cNvPr>
          <p:cNvSpPr txBox="1"/>
          <p:nvPr/>
        </p:nvSpPr>
        <p:spPr>
          <a:xfrm>
            <a:off x="1377382" y="4338214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Пик указывает на преобладание в кадре конкретного уровня яркости, что обычно соответствует большой однородной области — например, фону, сплошной тени или </a:t>
            </a:r>
            <a:r>
              <a:rPr lang="ru-RU" dirty="0" err="1"/>
              <a:t>пересвеченному</a:t>
            </a:r>
            <a:r>
              <a:rPr lang="ru-RU" dirty="0"/>
              <a:t> участку.</a:t>
            </a:r>
            <a:endParaRPr lang="ru-RU" b="1" dirty="0"/>
          </a:p>
        </p:txBody>
      </p:sp>
      <p:sp>
        <p:nvSpPr>
          <p:cNvPr id="15" name="Номер слайда 14">
            <a:extLst>
              <a:ext uri="{FF2B5EF4-FFF2-40B4-BE49-F238E27FC236}">
                <a16:creationId xmlns:a16="http://schemas.microsoft.com/office/drawing/2014/main" id="{E5B656E7-25A9-3B44-9104-A4F257D11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73256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6E0652-C363-06DA-A12C-453394A05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7488" y="2858293"/>
            <a:ext cx="9180512" cy="1141413"/>
          </a:xfrm>
        </p:spPr>
        <p:txBody>
          <a:bodyPr/>
          <a:lstStyle/>
          <a:p>
            <a:pPr algn="ctr"/>
            <a:r>
              <a:rPr lang="ru-RU" b="1" dirty="0"/>
              <a:t>Спасибо за внимание!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20CA38D-6AB6-8BDB-808C-C23C15E87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92151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</TotalTime>
  <Words>911</Words>
  <Application>Microsoft Office PowerPoint</Application>
  <PresentationFormat>Широкоэкранный</PresentationFormat>
  <Paragraphs>87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Тема Office</vt:lpstr>
      <vt:lpstr>Практическая работа №2: Гистограммы, профили и проекции</vt:lpstr>
      <vt:lpstr>Задания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Temirlan Akramov</dc:creator>
  <cp:lastModifiedBy>Иван Гуров</cp:lastModifiedBy>
  <cp:revision>10</cp:revision>
  <dcterms:created xsi:type="dcterms:W3CDTF">2026-09-16T15:58:33Z</dcterms:created>
  <dcterms:modified xsi:type="dcterms:W3CDTF">2026-09-25T08:55:53Z</dcterms:modified>
</cp:coreProperties>
</file>